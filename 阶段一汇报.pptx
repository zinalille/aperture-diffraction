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0"/>
  </p:handoutMasterIdLst>
  <p:sldIdLst>
    <p:sldId id="486" r:id="rId3"/>
    <p:sldId id="542" r:id="rId5"/>
    <p:sldId id="490" r:id="rId6"/>
    <p:sldId id="500" r:id="rId7"/>
    <p:sldId id="501" r:id="rId8"/>
    <p:sldId id="502" r:id="rId9"/>
    <p:sldId id="503" r:id="rId10"/>
    <p:sldId id="504" r:id="rId11"/>
    <p:sldId id="505" r:id="rId12"/>
    <p:sldId id="507" r:id="rId13"/>
    <p:sldId id="509" r:id="rId14"/>
    <p:sldId id="512" r:id="rId15"/>
    <p:sldId id="540" r:id="rId16"/>
    <p:sldId id="514" r:id="rId17"/>
    <p:sldId id="528" r:id="rId18"/>
    <p:sldId id="515" r:id="rId19"/>
    <p:sldId id="529" r:id="rId20"/>
    <p:sldId id="516" r:id="rId21"/>
    <p:sldId id="530" r:id="rId22"/>
    <p:sldId id="531" r:id="rId23"/>
    <p:sldId id="532" r:id="rId24"/>
    <p:sldId id="533" r:id="rId25"/>
    <p:sldId id="534" r:id="rId26"/>
    <p:sldId id="541" r:id="rId27"/>
    <p:sldId id="518" r:id="rId28"/>
    <p:sldId id="536" r:id="rId29"/>
    <p:sldId id="537" r:id="rId30"/>
    <p:sldId id="538" r:id="rId31"/>
    <p:sldId id="535" r:id="rId32"/>
    <p:sldId id="519" r:id="rId33"/>
    <p:sldId id="543" r:id="rId34"/>
    <p:sldId id="544" r:id="rId35"/>
    <p:sldId id="545" r:id="rId36"/>
    <p:sldId id="546" r:id="rId37"/>
    <p:sldId id="547" r:id="rId38"/>
    <p:sldId id="526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BEA2D3E8-5105-4115-B743-87307FDCB181}">
          <p14:sldIdLst>
            <p14:sldId id="486"/>
            <p14:sldId id="542"/>
            <p14:sldId id="490"/>
            <p14:sldId id="500"/>
            <p14:sldId id="501"/>
            <p14:sldId id="502"/>
            <p14:sldId id="503"/>
            <p14:sldId id="504"/>
            <p14:sldId id="505"/>
            <p14:sldId id="507"/>
            <p14:sldId id="509"/>
            <p14:sldId id="512"/>
            <p14:sldId id="540"/>
            <p14:sldId id="514"/>
            <p14:sldId id="528"/>
            <p14:sldId id="515"/>
            <p14:sldId id="529"/>
            <p14:sldId id="516"/>
            <p14:sldId id="530"/>
            <p14:sldId id="531"/>
            <p14:sldId id="532"/>
            <p14:sldId id="533"/>
            <p14:sldId id="534"/>
            <p14:sldId id="541"/>
            <p14:sldId id="518"/>
            <p14:sldId id="536"/>
            <p14:sldId id="537"/>
            <p14:sldId id="538"/>
            <p14:sldId id="535"/>
            <p14:sldId id="519"/>
            <p14:sldId id="543"/>
            <p14:sldId id="544"/>
            <p14:sldId id="545"/>
            <p14:sldId id="546"/>
            <p14:sldId id="547"/>
            <p14:sldId id="52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4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 snapToGrid="0">
      <p:cViewPr varScale="1">
        <p:scale>
          <a:sx n="80" d="100"/>
          <a:sy n="80" d="100"/>
        </p:scale>
        <p:origin x="14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0533F-0FF2-42CD-B8D3-05896C0AD2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78A3-4BF6-4CEB-ACDA-04BCD451A55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9054CEC-105C-4A6A-9456-DBE647A13B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9054CEC-105C-4A6A-9456-DBE647A13B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9054CEC-105C-4A6A-9456-DBE647A13B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9054CEC-105C-4A6A-9456-DBE647A13B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9054CEC-105C-4A6A-9456-DBE647A13B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9054CEC-105C-4A6A-9456-DBE647A13B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9054CEC-105C-4A6A-9456-DBE647A13B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712715C-60D8-4442-95C1-470452B860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932" y="66011"/>
            <a:ext cx="2201345" cy="80474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288326" y="6382139"/>
            <a:ext cx="1376413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求是 创新</a:t>
            </a:r>
            <a:endParaRPr lang="zh-CN" altLang="en-US" sz="1600" dirty="0">
              <a:solidFill>
                <a:schemeClr val="tx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0330283" y="6529705"/>
            <a:ext cx="1033515" cy="296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932" y="66011"/>
            <a:ext cx="2201345" cy="80474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288326" y="6382139"/>
            <a:ext cx="1376413" cy="39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求是 创新</a:t>
            </a:r>
            <a:endParaRPr lang="zh-CN" altLang="en-US" sz="1600" dirty="0">
              <a:solidFill>
                <a:schemeClr val="tx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6870" indent="-356870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6870" indent="-356870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3.xml"/><Relationship Id="rId7" Type="http://schemas.openxmlformats.org/officeDocument/2006/relationships/themeOverride" Target="../theme/themeOverride3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tags" Target="../tags/tag10.xml"/><Relationship Id="rId4" Type="http://schemas.openxmlformats.org/officeDocument/2006/relationships/image" Target="../media/image3.png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3.xml"/><Relationship Id="rId11" Type="http://schemas.openxmlformats.org/officeDocument/2006/relationships/themeOverride" Target="../theme/themeOverride4.xml"/><Relationship Id="rId10" Type="http://schemas.openxmlformats.org/officeDocument/2006/relationships/image" Target="../media/image5.png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5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3.xml"/><Relationship Id="rId15" Type="http://schemas.openxmlformats.org/officeDocument/2006/relationships/themeOverride" Target="../theme/themeOverride8.xml"/><Relationship Id="rId14" Type="http://schemas.openxmlformats.org/officeDocument/2006/relationships/image" Target="../media/image9.png"/><Relationship Id="rId13" Type="http://schemas.openxmlformats.org/officeDocument/2006/relationships/image" Target="../media/image8.emf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9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3.xml"/><Relationship Id="rId14" Type="http://schemas.openxmlformats.org/officeDocument/2006/relationships/themeOverride" Target="../theme/themeOverride12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3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14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15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16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1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18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3.xml"/><Relationship Id="rId7" Type="http://schemas.openxmlformats.org/officeDocument/2006/relationships/themeOverride" Target="../theme/themeOverride19.xml"/><Relationship Id="rId6" Type="http://schemas.openxmlformats.org/officeDocument/2006/relationships/image" Target="../media/image22.png"/><Relationship Id="rId5" Type="http://schemas.openxmlformats.org/officeDocument/2006/relationships/tags" Target="../tags/tag41.xml"/><Relationship Id="rId4" Type="http://schemas.openxmlformats.org/officeDocument/2006/relationships/image" Target="../media/image21.png"/><Relationship Id="rId3" Type="http://schemas.openxmlformats.org/officeDocument/2006/relationships/tags" Target="../tags/tag40.xml"/><Relationship Id="rId2" Type="http://schemas.openxmlformats.org/officeDocument/2006/relationships/image" Target="../media/image20.png"/><Relationship Id="rId1" Type="http://schemas.openxmlformats.org/officeDocument/2006/relationships/tags" Target="../tags/tag39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20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21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22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23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4" Type="http://schemas.openxmlformats.org/officeDocument/2006/relationships/notesSlide" Target="../notesSlides/notesSlide24.xml"/><Relationship Id="rId13" Type="http://schemas.openxmlformats.org/officeDocument/2006/relationships/slideLayout" Target="../slideLayouts/slideLayout3.xml"/><Relationship Id="rId12" Type="http://schemas.openxmlformats.org/officeDocument/2006/relationships/themeOverride" Target="../theme/themeOverride24.xml"/><Relationship Id="rId11" Type="http://schemas.openxmlformats.org/officeDocument/2006/relationships/image" Target="../media/image26.png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25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26.xml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27.xml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9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30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31.xml"/><Relationship Id="rId1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32.xml"/><Relationship Id="rId2" Type="http://schemas.openxmlformats.org/officeDocument/2006/relationships/tags" Target="../tags/tag52.xml"/><Relationship Id="rId1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3.xml"/><Relationship Id="rId2" Type="http://schemas.openxmlformats.org/officeDocument/2006/relationships/themeOverride" Target="../theme/themeOverride33.xml"/><Relationship Id="rId1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34.xml"/><Relationship Id="rId2" Type="http://schemas.openxmlformats.org/officeDocument/2006/relationships/slide" Target="slide33.xml"/><Relationship Id="rId1" Type="http://schemas.openxmlformats.org/officeDocument/2006/relationships/tags" Target="../tags/tag5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3390108" y="4395017"/>
            <a:ext cx="3244215" cy="378460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沈楚涵</a:t>
            </a:r>
            <a:r>
              <a:rPr kumimoji="1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金于宁</a:t>
            </a:r>
            <a:r>
              <a:rPr kumimoji="1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周佳妍</a:t>
            </a:r>
            <a:r>
              <a:rPr kumimoji="1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袁修齐</a:t>
            </a:r>
            <a:endParaRPr kumimoji="1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78655" y="2888909"/>
            <a:ext cx="7785980" cy="111696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阶段一成果</a:t>
            </a:r>
            <a:r>
              <a:rPr kumimoji="0" lang="zh-CN" altLang="en-US" sz="66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</a:t>
            </a:r>
            <a:endParaRPr kumimoji="0" lang="zh-CN" altLang="en-US" sz="6665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3390108" y="4166691"/>
            <a:ext cx="670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1" y="1552169"/>
            <a:ext cx="2387969" cy="3826419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chemeClr val="accent1"/>
          </a:solidFill>
          <a:ln w="5" cap="flat">
            <a:solidFill>
              <a:schemeClr val="accent1"/>
            </a:solidFill>
            <a:prstDash val="solid"/>
            <a:miter lim="800000"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2296560" y="2937549"/>
            <a:ext cx="182819" cy="2259004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8655" y="1328636"/>
            <a:ext cx="3831859" cy="140081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53795" cy="119888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7" y="2692405"/>
            <a:ext cx="2621280" cy="829945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基础准备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184" y="1542950"/>
            <a:ext cx="2800169" cy="280016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634918" y="237124"/>
            <a:ext cx="18681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实验计划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7" name="箭头3"/>
          <p:cNvSpPr/>
          <p:nvPr/>
        </p:nvSpPr>
        <p:spPr bwMode="gray">
          <a:xfrm flipV="1">
            <a:off x="2042467" y="3852890"/>
            <a:ext cx="1093019" cy="1520708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82824" tIns="41411" rIns="82824" bIns="41411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箭头2"/>
          <p:cNvSpPr/>
          <p:nvPr/>
        </p:nvSpPr>
        <p:spPr bwMode="gray">
          <a:xfrm rot="16200000">
            <a:off x="2330482" y="3220017"/>
            <a:ext cx="324863" cy="1299204"/>
          </a:xfrm>
          <a:custGeom>
            <a:avLst/>
            <a:gdLst>
              <a:gd name="T0" fmla="*/ 37 w 142"/>
              <a:gd name="T1" fmla="*/ 1 h 604"/>
              <a:gd name="T2" fmla="*/ 45 w 142"/>
              <a:gd name="T3" fmla="*/ 472 h 604"/>
              <a:gd name="T4" fmla="*/ 0 w 142"/>
              <a:gd name="T5" fmla="*/ 474 h 604"/>
              <a:gd name="T6" fmla="*/ 72 w 142"/>
              <a:gd name="T7" fmla="*/ 604 h 604"/>
              <a:gd name="T8" fmla="*/ 142 w 142"/>
              <a:gd name="T9" fmla="*/ 474 h 604"/>
              <a:gd name="T10" fmla="*/ 100 w 142"/>
              <a:gd name="T11" fmla="*/ 474 h 604"/>
              <a:gd name="T12" fmla="*/ 99 w 142"/>
              <a:gd name="T13" fmla="*/ 0 h 604"/>
              <a:gd name="T14" fmla="*/ 37 w 142"/>
              <a:gd name="T15" fmla="*/ 1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2" h="604">
                <a:moveTo>
                  <a:pt x="37" y="1"/>
                </a:moveTo>
                <a:lnTo>
                  <a:pt x="45" y="472"/>
                </a:lnTo>
                <a:lnTo>
                  <a:pt x="0" y="474"/>
                </a:lnTo>
                <a:lnTo>
                  <a:pt x="72" y="604"/>
                </a:lnTo>
                <a:lnTo>
                  <a:pt x="142" y="474"/>
                </a:lnTo>
                <a:lnTo>
                  <a:pt x="100" y="474"/>
                </a:lnTo>
                <a:lnTo>
                  <a:pt x="99" y="0"/>
                </a:lnTo>
                <a:lnTo>
                  <a:pt x="37" y="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82824" tIns="41411" rIns="82824" bIns="41411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箭头1"/>
          <p:cNvSpPr/>
          <p:nvPr/>
        </p:nvSpPr>
        <p:spPr bwMode="gray">
          <a:xfrm>
            <a:off x="2035439" y="2191679"/>
            <a:ext cx="1093019" cy="1761588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82824" tIns="41411" rIns="82824" bIns="41411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1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4504357" y="1802941"/>
            <a:ext cx="5912124" cy="1195991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构建正向预测网络，并验证引入物理先验相比纯数据驱动网络的优势。核心命题是：当物理规律已知时，把它写进网络，可以让网络学得更准、更省、更稳。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1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3261751" y="1796820"/>
            <a:ext cx="1242605" cy="1202113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65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第一阶段</a:t>
            </a:r>
            <a:endParaRPr kumimoji="0" lang="zh-CN" altLang="zh-CN" sz="1865" b="1" i="0" u="none" strike="noStrike" kern="1200" cap="none" spc="0" normalizeH="0" baseline="0" noProof="0" dirty="0">
              <a:ln>
                <a:noFill/>
              </a:ln>
              <a:solidFill>
                <a:sysClr val="window" lastClr="FFFFFF">
                  <a:lumMod val="9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2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504357" y="3256318"/>
            <a:ext cx="5912124" cy="1192036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构建"衍射图样 → 光阑"的逆向网络。逆问题</a:t>
            </a:r>
            <a:r>
              <a:rPr lang="zh-CN" altLang="en-US" sz="16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需要把第一阶段的正向网络当作可微的约束，让逆网络的输出再送回正向网络，比较重建结果与原输入的 </a:t>
            </a:r>
            <a:r>
              <a:rPr lang="en-US" altLang="zh-CN" sz="16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loss，</a:t>
            </a:r>
            <a:r>
              <a:rPr lang="zh-CN" altLang="en-US" sz="16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从而反向传播校正逆网络权重。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标题2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3261751" y="3256318"/>
            <a:ext cx="1242607" cy="1192036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65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第二</a:t>
            </a:r>
            <a:r>
              <a:rPr kumimoji="0" lang="zh-CN" altLang="zh-CN" sz="1865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阶段</a:t>
            </a:r>
            <a:endParaRPr kumimoji="0" lang="zh-CN" altLang="zh-CN" sz="1865" b="1" i="0" u="none" strike="noStrike" kern="1200" cap="none" spc="0" normalizeH="0" baseline="0" noProof="0" dirty="0">
              <a:ln>
                <a:noFill/>
              </a:ln>
              <a:solidFill>
                <a:sysClr val="window" lastClr="FFFFFF">
                  <a:lumMod val="9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3"/>
          <p:cNvSpPr>
            <a:spLocks noChangeArrowheads="1"/>
          </p:cNvSpPr>
          <p:nvPr>
            <p:custDataLst>
              <p:tags r:id="rId5"/>
            </p:custDataLst>
          </p:nvPr>
        </p:nvSpPr>
        <p:spPr bwMode="ltGray">
          <a:xfrm>
            <a:off x="4504357" y="4697390"/>
            <a:ext cx="5912124" cy="1181401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把正、逆网络组合成一个完整的双向预测系统，并在不同数据集以及</a:t>
            </a:r>
            <a:r>
              <a:rPr lang="zh-CN" altLang="en-US" sz="1600" b="1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存在外界干扰（例如毛玻璃）</a:t>
            </a:r>
            <a:r>
              <a:rPr lang="zh-CN" altLang="en-US" sz="16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的条件下验证鲁棒性，目标是干扰下误差尽量小。</a:t>
            </a: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标题3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3261751" y="4697390"/>
            <a:ext cx="1242605" cy="1181401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2824" tIns="41411" rIns="82824" bIns="4141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2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65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第三阶段</a:t>
            </a:r>
            <a:endParaRPr kumimoji="0" lang="zh-CN" altLang="zh-CN" sz="1865" b="1" i="0" u="none" strike="noStrike" kern="1200" cap="none" spc="0" normalizeH="0" baseline="0" noProof="0" dirty="0">
              <a:ln>
                <a:noFill/>
              </a:ln>
              <a:solidFill>
                <a:sysClr val="window" lastClr="FFFFFF">
                  <a:lumMod val="9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Oval 19"/>
          <p:cNvSpPr>
            <a:spLocks noChangeArrowheads="1"/>
          </p:cNvSpPr>
          <p:nvPr/>
        </p:nvSpPr>
        <p:spPr bwMode="auto">
          <a:xfrm>
            <a:off x="1482571" y="3256318"/>
            <a:ext cx="1190548" cy="1192036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  <a:effectLst/>
        </p:spPr>
        <p:txBody>
          <a:bodyPr lIns="82824" tIns="41411" rIns="82824" bIns="41411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535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实验计划</a:t>
            </a:r>
            <a:endParaRPr kumimoji="0" lang="zh-CN" altLang="en-US" sz="2535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>
            <a:spLocks noChangeArrowheads="1"/>
          </p:cNvSpPr>
          <p:nvPr/>
        </p:nvSpPr>
        <p:spPr bwMode="auto">
          <a:xfrm>
            <a:off x="1165887" y="2164460"/>
            <a:ext cx="27952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标量衍射与夫琅禾费近似</a:t>
            </a:r>
            <a:endParaRPr kumimoji="0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1165888" y="4259940"/>
            <a:ext cx="11026183" cy="409455"/>
            <a:chOff x="557975" y="2182474"/>
            <a:chExt cx="9712716" cy="409455"/>
          </a:xfrm>
        </p:grpSpPr>
        <p:sp>
          <p:nvSpPr>
            <p:cNvPr id="57" name="Rectangle 1"/>
            <p:cNvSpPr>
              <a:spLocks noChangeArrowheads="1"/>
            </p:cNvSpPr>
            <p:nvPr/>
          </p:nvSpPr>
          <p:spPr bwMode="auto">
            <a:xfrm>
              <a:off x="557975" y="2182989"/>
              <a:ext cx="1689818" cy="4089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anchor="ctr" anchorCtr="0" compatLnSpc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数值离散与 </a:t>
              </a:r>
              <a:r>
                <a:rPr kumimoji="0" lang="en-US" altLang="zh-CN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FFT</a:t>
              </a:r>
              <a:endPara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2358542" y="2182474"/>
              <a:ext cx="7912149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field_f   = fftshift(fft2(aperture))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；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intensity = |field_f| ** 2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1"/>
            </p:custDataLst>
          </p:nvPr>
        </p:nvGrpSpPr>
        <p:grpSpPr>
          <a:xfrm>
            <a:off x="1165887" y="4743378"/>
            <a:ext cx="10549151" cy="609720"/>
            <a:chOff x="557975" y="2688775"/>
            <a:chExt cx="9292510" cy="609720"/>
          </a:xfrm>
        </p:grpSpPr>
        <p:sp>
          <p:nvSpPr>
            <p:cNvPr id="60" name="Rectangle 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57975" y="2688775"/>
              <a:ext cx="2097590" cy="4089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anchor="ctr" anchorCtr="0" compatLnSpc="1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动态范围与对数压缩</a:t>
              </a:r>
              <a:endPara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矩形 60"/>
            <p:cNvSpPr/>
            <p:nvPr>
              <p:custDataLst>
                <p:tags r:id="rId3"/>
              </p:custDataLst>
            </p:nvPr>
          </p:nvSpPr>
          <p:spPr>
            <a:xfrm>
              <a:off x="2681851" y="2714930"/>
              <a:ext cx="7168634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若直接回归线性强度，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loss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会被中心峰主导，旁瓣（承载形状信息的关键结构）几乎学不到。因此对强度做对数压缩：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634918" y="237124"/>
            <a:ext cx="18681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理论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基础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60190" y="6350"/>
            <a:ext cx="8131810" cy="42278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52210" y="5096510"/>
            <a:ext cx="3583305" cy="717550"/>
          </a:xfrm>
          <a:prstGeom prst="rect">
            <a:avLst/>
          </a:prstGeom>
        </p:spPr>
      </p:pic>
      <p:grpSp>
        <p:nvGrpSpPr>
          <p:cNvPr id="6" name="组合 5"/>
          <p:cNvGrpSpPr/>
          <p:nvPr>
            <p:custDataLst>
              <p:tags r:id="rId7"/>
            </p:custDataLst>
          </p:nvPr>
        </p:nvGrpSpPr>
        <p:grpSpPr>
          <a:xfrm>
            <a:off x="1165887" y="5813988"/>
            <a:ext cx="10281816" cy="408940"/>
            <a:chOff x="557975" y="2688775"/>
            <a:chExt cx="9057021" cy="408940"/>
          </a:xfrm>
        </p:grpSpPr>
        <p:sp>
          <p:nvSpPr>
            <p:cNvPr id="7" name="Rectangle 1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57975" y="2688775"/>
              <a:ext cx="1888390" cy="4089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anchor="ctr" anchorCtr="0" compatLnSpc="1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物理引导神经</a:t>
              </a:r>
              <a:r>
                <a:rPr kumimoji="0" lang="zh-CN" altLang="en-US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网络</a:t>
              </a:r>
              <a:endPara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9"/>
              </p:custDataLst>
            </p:nvPr>
          </p:nvSpPr>
          <p:spPr>
            <a:xfrm>
              <a:off x="2446362" y="2714930"/>
              <a:ext cx="7168634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把已知的物理当成一个无参数、可微的算子层直接嵌入网络：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77580" y="5814060"/>
            <a:ext cx="3014980" cy="58801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46"/>
          <p:cNvSpPr>
            <a:spLocks noChangeArrowheads="1"/>
          </p:cNvSpPr>
          <p:nvPr/>
        </p:nvSpPr>
        <p:spPr bwMode="auto">
          <a:xfrm>
            <a:off x="634918" y="237124"/>
            <a:ext cx="34937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物理引导神经网络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2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64870" y="1531771"/>
            <a:ext cx="9513570" cy="4197834"/>
            <a:chOff x="1362" y="2412"/>
            <a:chExt cx="14982" cy="6611"/>
          </a:xfrm>
        </p:grpSpPr>
        <p:grpSp>
          <p:nvGrpSpPr>
            <p:cNvPr id="18" name="组合 17"/>
            <p:cNvGrpSpPr/>
            <p:nvPr/>
          </p:nvGrpSpPr>
          <p:grpSpPr>
            <a:xfrm>
              <a:off x="1362" y="2412"/>
              <a:ext cx="14982" cy="6611"/>
              <a:chOff x="5818000" y="2002147"/>
              <a:chExt cx="5586883" cy="4197796"/>
            </a:xfrm>
          </p:grpSpPr>
          <p:sp>
            <p:nvSpPr>
              <p:cNvPr id="19" name="圆角矩形 18"/>
              <p:cNvSpPr/>
              <p:nvPr/>
            </p:nvSpPr>
            <p:spPr>
              <a:xfrm>
                <a:off x="5818000" y="2002147"/>
                <a:ext cx="5586883" cy="4197796"/>
              </a:xfrm>
              <a:prstGeom prst="roundRect">
                <a:avLst>
                  <a:gd name="adj" fmla="val 7739"/>
                </a:avLst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文本框 31"/>
              <p:cNvSpPr txBox="1"/>
              <p:nvPr/>
            </p:nvSpPr>
            <p:spPr>
              <a:xfrm>
                <a:off x="6083703" y="2773514"/>
                <a:ext cx="5053952" cy="2553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indent="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思想来自残差学习（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ResNet）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与物理信息神经网络（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PINN/Physics-Informed）：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物理层已经给出"主项"，网络只需学习残差修正项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ΔI；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残差网络输出层零初始化，训练起点就是 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R="0" lvl="0" indent="45720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从"纯物理"开始，逐步叠加学到的修正；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物理层无参数、不占用学习容量，天然保证输出满足衍射规律（可解释、可泛化）。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668" y="5400"/>
              <a:ext cx="2998" cy="94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53795" cy="119888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7" y="2692405"/>
            <a:ext cx="3840480" cy="829945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关键实现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步骤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184" y="1542950"/>
            <a:ext cx="2800169" cy="280016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9"/>
          <p:cNvSpPr txBox="1"/>
          <p:nvPr/>
        </p:nvSpPr>
        <p:spPr>
          <a:xfrm>
            <a:off x="635000" y="1060450"/>
            <a:ext cx="4533900" cy="5182235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 marL="342900" marR="0" lvl="0" indent="-342900" algn="l" defTabSz="4572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随机光阑生成：内置 8 种策略，覆盖不同几何结构，保证数据多样性。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物理模拟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simulate_diffraction()：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与训练中的物理层逐行对齐——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FFT → fftshift → |·|² →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归一化 →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log(1+α·I) →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再归一化。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噪声与透过率扰动：乘性透过率、加性高斯噪声，再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clip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到避免数据集过于"干净"。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输出：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data/apertures.npy、data/patterns.npy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，以及若干预览图。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indent="0" algn="l" defTabSz="4572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indent="0" algn="l" defTabSz="4572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关键超参数：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indent="0" algn="l" defTabSz="4572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GRID=256、N_SAMPLES=5000、SEED=42、LOG_ALPHA=100.0、APERTURE_NOISE=0.005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634918" y="237124"/>
            <a:ext cx="6430645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数据流水线（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generate_data.py）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9" name="等腰三角形 18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94325" y="1395095"/>
            <a:ext cx="6522085" cy="451358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>
            <p:custDataLst>
              <p:tags r:id="rId1"/>
            </p:custDataLst>
          </p:nvPr>
        </p:nvSpPr>
        <p:spPr>
          <a:xfrm>
            <a:off x="2637794" y="1587735"/>
            <a:ext cx="1004399" cy="10043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endParaRPr kumimoji="0" lang="zh-HK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椭圆 6"/>
          <p:cNvSpPr/>
          <p:nvPr>
            <p:custDataLst>
              <p:tags r:id="rId2"/>
            </p:custDataLst>
          </p:nvPr>
        </p:nvSpPr>
        <p:spPr>
          <a:xfrm>
            <a:off x="3642194" y="3356749"/>
            <a:ext cx="1004399" cy="10043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  <a:endParaRPr kumimoji="0" lang="zh-HK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2637794" y="4977345"/>
            <a:ext cx="1004399" cy="10043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endParaRPr kumimoji="0" lang="zh-HK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1598053" y="2456194"/>
            <a:ext cx="888520" cy="52755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818691" y="3858947"/>
            <a:ext cx="15965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562019" y="4723543"/>
            <a:ext cx="960589" cy="50714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>
            <p:custDataLst>
              <p:tags r:id="rId4"/>
            </p:custDataLst>
          </p:nvPr>
        </p:nvGrpSpPr>
        <p:grpSpPr>
          <a:xfrm>
            <a:off x="3933182" y="2111609"/>
            <a:ext cx="6088665" cy="765475"/>
            <a:chOff x="4012556" y="1375083"/>
            <a:chExt cx="5516462" cy="765476"/>
          </a:xfrm>
        </p:grpSpPr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4012556" y="1729714"/>
              <a:ext cx="5516462" cy="4108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纯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FFT + log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压缩，无参数、完全可微，与数据生成严格一致。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文本框 42"/>
            <p:cNvSpPr txBox="1"/>
            <p:nvPr>
              <p:custDataLst>
                <p:tags r:id="rId6"/>
              </p:custDataLst>
            </p:nvPr>
          </p:nvSpPr>
          <p:spPr>
            <a:xfrm>
              <a:off x="4012556" y="1375083"/>
              <a:ext cx="2374014" cy="378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865" b="1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FraunhoferLayer：</a:t>
              </a:r>
              <a:endPara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7"/>
            </p:custDataLst>
          </p:nvPr>
        </p:nvGrpSpPr>
        <p:grpSpPr>
          <a:xfrm>
            <a:off x="4873534" y="3199999"/>
            <a:ext cx="6088665" cy="1405554"/>
            <a:chOff x="4873534" y="3109566"/>
            <a:chExt cx="5516462" cy="1405553"/>
          </a:xfrm>
        </p:grpSpPr>
        <p:sp>
          <p:nvSpPr>
            <p:cNvPr id="14" name="矩形 13"/>
            <p:cNvSpPr/>
            <p:nvPr>
              <p:custDataLst>
                <p:tags r:id="rId8"/>
              </p:custDataLst>
            </p:nvPr>
          </p:nvSpPr>
          <p:spPr>
            <a:xfrm>
              <a:off x="4873534" y="3464195"/>
              <a:ext cx="5516462" cy="10509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轻量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U-Net（base_ch=32），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输入 2 通道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concat(a, I_sim)，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输出单通道残差；下采样-上采样 + 跳跃连接；输出层权重与偏置零初始化，保证训练从"纯物理"出发。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文本框 44"/>
            <p:cNvSpPr txBox="1"/>
            <p:nvPr>
              <p:custDataLst>
                <p:tags r:id="rId9"/>
              </p:custDataLst>
            </p:nvPr>
          </p:nvSpPr>
          <p:spPr>
            <a:xfrm>
              <a:off x="4873534" y="3109566"/>
              <a:ext cx="2374014" cy="378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ResidualUNet</a:t>
              </a:r>
              <a:r>
                <a:rPr kumimoji="0" lang="zh-CN" altLang="en-US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：</a:t>
              </a:r>
              <a:endPara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10"/>
            </p:custDataLst>
          </p:nvPr>
        </p:nvGrpSpPr>
        <p:grpSpPr>
          <a:xfrm>
            <a:off x="4012557" y="4841524"/>
            <a:ext cx="6088665" cy="1085516"/>
            <a:chOff x="4012556" y="5002204"/>
            <a:chExt cx="5516462" cy="1085517"/>
          </a:xfrm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4012556" y="5356835"/>
              <a:ext cx="5516462" cy="730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串联上述两层，前向同时返回 (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I_pred, I_sim, ΔI)，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便于在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loss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中分别约束。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文本框 46"/>
            <p:cNvSpPr txBox="1"/>
            <p:nvPr>
              <p:custDataLst>
                <p:tags r:id="rId12"/>
              </p:custDataLst>
            </p:nvPr>
          </p:nvSpPr>
          <p:spPr>
            <a:xfrm>
              <a:off x="4012556" y="5002204"/>
              <a:ext cx="2374014" cy="378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PhysicsGuidedModel</a:t>
              </a:r>
              <a:r>
                <a:rPr kumimoji="0" lang="zh-CN" altLang="en-US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：</a:t>
              </a:r>
              <a:endPara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3" cstate="screen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8604"/>
          <a:stretch>
            <a:fillRect/>
          </a:stretch>
        </p:blipFill>
        <p:spPr>
          <a:xfrm>
            <a:off x="1" y="2158068"/>
            <a:ext cx="1623327" cy="3158577"/>
          </a:xfrm>
          <a:prstGeom prst="rect">
            <a:avLst/>
          </a:prstGeom>
        </p:spPr>
      </p:pic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634918" y="237124"/>
            <a:ext cx="414909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正向模型（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train.py）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3" name="等腰三角形 22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4">
            <a:clrChange>
              <a:clrFrom>
                <a:srgbClr val="F4F2F0">
                  <a:alpha val="100000"/>
                </a:srgbClr>
              </a:clrFrom>
              <a:clrTo>
                <a:srgbClr val="F4F2F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5500" y="422910"/>
            <a:ext cx="6402705" cy="156400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 177"/>
          <p:cNvSpPr>
            <a:spLocks noChangeArrowheads="1"/>
          </p:cNvSpPr>
          <p:nvPr/>
        </p:nvSpPr>
        <p:spPr bwMode="auto">
          <a:xfrm>
            <a:off x="634918" y="237124"/>
            <a:ext cx="536829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损失函数（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train.py::Loss）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79" name="等腰三角形 178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2610" y="1066800"/>
            <a:ext cx="11629390" cy="1094740"/>
          </a:xfrm>
          <a:prstGeom prst="rect">
            <a:avLst/>
          </a:prstGeom>
        </p:spPr>
      </p:pic>
      <p:grpSp>
        <p:nvGrpSpPr>
          <p:cNvPr id="181" name="组合 180"/>
          <p:cNvGrpSpPr/>
          <p:nvPr/>
        </p:nvGrpSpPr>
        <p:grpSpPr>
          <a:xfrm>
            <a:off x="864870" y="2297430"/>
            <a:ext cx="10292080" cy="3431540"/>
            <a:chOff x="1362" y="3618"/>
            <a:chExt cx="16208" cy="5404"/>
          </a:xfrm>
        </p:grpSpPr>
        <p:grpSp>
          <p:nvGrpSpPr>
            <p:cNvPr id="2" name="组合 1"/>
            <p:cNvGrpSpPr/>
            <p:nvPr/>
          </p:nvGrpSpPr>
          <p:grpSpPr>
            <a:xfrm rot="0">
              <a:off x="1362" y="3618"/>
              <a:ext cx="16209" cy="5405"/>
              <a:chOff x="5818000" y="1218804"/>
              <a:chExt cx="6044439" cy="4981139"/>
            </a:xfrm>
          </p:grpSpPr>
          <p:sp>
            <p:nvSpPr>
              <p:cNvPr id="4" name="圆角矩形 3"/>
              <p:cNvSpPr/>
              <p:nvPr/>
            </p:nvSpPr>
            <p:spPr>
              <a:xfrm>
                <a:off x="5818000" y="1218804"/>
                <a:ext cx="6044439" cy="4981139"/>
              </a:xfrm>
              <a:prstGeom prst="roundRect">
                <a:avLst>
                  <a:gd name="adj" fmla="val 7739"/>
                </a:avLst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" name="文本框 31"/>
              <p:cNvSpPr txBox="1"/>
              <p:nvPr/>
            </p:nvSpPr>
            <p:spPr>
              <a:xfrm>
                <a:off x="6083882" y="1674064"/>
                <a:ext cx="5523862" cy="239518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marR="0" lvl="0" indent="-28575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空间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L1：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主约束；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频域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log 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幅度：对旁瓣/级次等高频细节更敏感，避免被中心峰掩盖；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SSIM：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约束几何结构（艾里环、光栅级次）；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85750" marR="0" lvl="0" indent="-28575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残差 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L1 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正则：鼓励残差接近 0，防止网络"重学"物理层已算好的部分； 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743200" marR="0" lvl="6" indent="457200" algn="l" defTabSz="4572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，各项均可单独关闭以做消融。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pic>
          <p:nvPicPr>
            <p:cNvPr id="180" name="图片 179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92" y="7542"/>
              <a:ext cx="4620" cy="47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1121267" y="2948194"/>
            <a:ext cx="4265949" cy="267652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实现了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PureUNet——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与残差网络完全相同的骨干结构（参数量仅差 288 个，&lt;0.02%），唯一区别是没有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FFT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物理层，端到端直接从光阑预测衍射图样。为公平，基线单独调参：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lr=3e-4，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输出层线性且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bias=target_mean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初始化（避免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sigmoid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在均值≈0.05 处饱和），并关闭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SSIM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与残差正则。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55558" y="2948186"/>
            <a:ext cx="4318097" cy="230695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MAE / MSE / RMSE / PSNR /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相对误差 / 相关系数 / 峰值位置误差。可视化：样本对比、误差热图、误差直方图，以及极端测试（单缝、双缝、圆孔、方孔、光栅、全通、全挡、单点）与参数扫描（缝宽、圆孔半径、光栅周期）。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32" name="直接连接符 15"/>
          <p:cNvCxnSpPr/>
          <p:nvPr/>
        </p:nvCxnSpPr>
        <p:spPr>
          <a:xfrm flipH="1">
            <a:off x="6062197" y="2319967"/>
            <a:ext cx="8967" cy="3933259"/>
          </a:xfrm>
          <a:prstGeom prst="line">
            <a:avLst/>
          </a:prstGeom>
          <a:ln w="254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4"/>
          <p:cNvGrpSpPr/>
          <p:nvPr/>
        </p:nvGrpSpPr>
        <p:grpSpPr>
          <a:xfrm>
            <a:off x="1065021" y="1355437"/>
            <a:ext cx="10012283" cy="1155355"/>
            <a:chOff x="-470146" y="1321180"/>
            <a:chExt cx="10012283" cy="1155354"/>
          </a:xfrm>
        </p:grpSpPr>
        <p:sp>
          <p:nvSpPr>
            <p:cNvPr id="45" name="椭圆 44"/>
            <p:cNvSpPr/>
            <p:nvPr/>
          </p:nvSpPr>
          <p:spPr>
            <a:xfrm>
              <a:off x="3944942" y="1321180"/>
              <a:ext cx="1182108" cy="1155354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-470146" y="1583071"/>
              <a:ext cx="4178049" cy="6463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基线对比（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baseline.py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5364088" y="1583071"/>
              <a:ext cx="4178049" cy="667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评估（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evaluate.py）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1" name="燕尾形 50"/>
            <p:cNvSpPr/>
            <p:nvPr/>
          </p:nvSpPr>
          <p:spPr>
            <a:xfrm>
              <a:off x="3851920" y="1772816"/>
              <a:ext cx="216024" cy="288032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2" name="燕尾形 51"/>
            <p:cNvSpPr/>
            <p:nvPr/>
          </p:nvSpPr>
          <p:spPr>
            <a:xfrm flipH="1">
              <a:off x="5004048" y="1772816"/>
              <a:ext cx="216024" cy="288032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634918" y="237124"/>
            <a:ext cx="914146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基线对比（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baseline.py）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和评估（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evaluate.py）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6" name="等腰三角形 35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634918" y="237124"/>
            <a:ext cx="18681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具体步骤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3" name="等腰三角形 22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42415" y="1111885"/>
            <a:ext cx="8406130" cy="456946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p>
            <a:pPr marL="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600" b="0" i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# 1) 生成数据</a:t>
            </a:r>
            <a:endParaRPr lang="en-US" altLang="zh-CN" sz="1600" b="0" i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600" b="0" i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python generate_data.py</a:t>
            </a:r>
            <a:endParaRPr lang="en-US" altLang="zh-CN" sz="1600" b="0" i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 sz="1600" b="0" i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600" b="0" i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# 2) 训练正向网络（物理引导残差模型）</a:t>
            </a:r>
            <a:endParaRPr lang="en-US" altLang="zh-CN" sz="1600" b="0" i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600" b="0" i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python train.py</a:t>
            </a:r>
            <a:endParaRPr lang="en-US" altLang="zh-CN" sz="1600" b="0" i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b="0" i="0">
              <a:solidFill>
                <a:schemeClr val="tx1"/>
              </a:solidFill>
              <a:latin typeface="Segoe Print" panose="02000600000000000000" charset="0"/>
              <a:ea typeface="Segoe Print" panose="02000600000000000000" charset="0"/>
            </a:endParaRPr>
          </a:p>
          <a:p>
            <a:pPr marL="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600" b="0" i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# 3) 评估正向网络</a:t>
            </a:r>
            <a:endParaRPr lang="en-US" altLang="zh-CN" sz="1600" b="0" i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600" b="0" i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python evaluate.py                       # 默认读取 data/ 与 best_model.pt</a:t>
            </a:r>
            <a:endParaRPr lang="en-US" altLang="zh-CN" sz="1600" b="0" i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600" b="0" i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python evaluate.py --skip_sweep          # 跳过参数扫描可加速</a:t>
            </a:r>
            <a:endParaRPr lang="en-US" altLang="zh-CN" sz="1600" b="0" i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altLang="zh-CN" sz="1600" b="0" i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600" b="0" i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# 4) 训练无物理先验的基线并做对比</a:t>
            </a:r>
            <a:endParaRPr lang="en-US" altLang="zh-CN" sz="1600" b="0" i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600" b="0" i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python baseline.py all                   # = train + compare</a:t>
            </a:r>
            <a:endParaRPr lang="en-US" altLang="zh-CN" sz="1600" b="0" i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634918" y="237124"/>
            <a:ext cx="18681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训练策略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7" name="等腰三角形 16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1931" y="3122895"/>
            <a:ext cx="1248139" cy="13131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训练策略</a:t>
            </a:r>
            <a:endParaRPr kumimoji="0" lang="zh-CN" altLang="en-US" sz="4265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TextBox 18"/>
          <p:cNvSpPr txBox="1"/>
          <p:nvPr>
            <p:custDataLst>
              <p:tags r:id="rId1"/>
            </p:custDataLst>
          </p:nvPr>
        </p:nvSpPr>
        <p:spPr>
          <a:xfrm>
            <a:off x="1071245" y="1850390"/>
            <a:ext cx="3053080" cy="1477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R="0" lvl="0" indent="0" algn="l" defTabSz="4572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优化器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AdamW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indent="0" algn="l" defTabSz="4572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（lr=1e-3,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indent="0" algn="l" defTabSz="4572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weight_decay=1e-4），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indent="0" algn="l" defTabSz="4572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余弦退火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CosineAnnealingLR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TextBox 19"/>
          <p:cNvSpPr txBox="1"/>
          <p:nvPr>
            <p:custDataLst>
              <p:tags r:id="rId2"/>
            </p:custDataLst>
          </p:nvPr>
        </p:nvSpPr>
        <p:spPr>
          <a:xfrm>
            <a:off x="8220174" y="1850375"/>
            <a:ext cx="2743861" cy="1846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epochs=50,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batch_size=32,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验证集占 10%，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梯度裁剪 clip_grad_norm_=1.0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TextBox 20"/>
          <p:cNvSpPr txBox="1"/>
          <p:nvPr>
            <p:custDataLst>
              <p:tags r:id="rId3"/>
            </p:custDataLst>
          </p:nvPr>
        </p:nvSpPr>
        <p:spPr>
          <a:xfrm>
            <a:off x="1057275" y="3894455"/>
            <a:ext cx="3067050" cy="2215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R="0" lvl="0" algn="l" defTabSz="4572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训练前自检：用第 0 个样本比较物理层输出与标签的 MAE 与相关系数，若不匹配（MAE&lt;1e-3 且 Corr&gt;0.999 视为通过）则直接报错，防止"物理层与数据不一致"的隐蔽 bug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TextBox 21"/>
          <p:cNvSpPr txBox="1"/>
          <p:nvPr>
            <p:custDataLst>
              <p:tags r:id="rId4"/>
            </p:custDataLst>
          </p:nvPr>
        </p:nvSpPr>
        <p:spPr>
          <a:xfrm>
            <a:off x="8205470" y="4436110"/>
            <a:ext cx="374015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按验证集 L1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保存最优权重到 best_model.pt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3" name="组合 22"/>
          <p:cNvGrpSpPr/>
          <p:nvPr>
            <p:custDataLst>
              <p:tags r:id="rId5"/>
            </p:custDataLst>
          </p:nvPr>
        </p:nvGrpSpPr>
        <p:grpSpPr>
          <a:xfrm>
            <a:off x="4434418" y="2111551"/>
            <a:ext cx="3323167" cy="3335868"/>
            <a:chOff x="3325813" y="1973262"/>
            <a:chExt cx="2492375" cy="2501901"/>
          </a:xfrm>
        </p:grpSpPr>
        <p:sp>
          <p:nvSpPr>
            <p:cNvPr id="24" name="Freeform 5"/>
            <p:cNvSpPr/>
            <p:nvPr>
              <p:custDataLst>
                <p:tags r:id="rId6"/>
              </p:custDataLst>
            </p:nvPr>
          </p:nvSpPr>
          <p:spPr bwMode="auto">
            <a:xfrm>
              <a:off x="3325813" y="3276600"/>
              <a:ext cx="1193800" cy="1198563"/>
            </a:xfrm>
            <a:custGeom>
              <a:avLst/>
              <a:gdLst>
                <a:gd name="T0" fmla="*/ 1809 w 4497"/>
                <a:gd name="T1" fmla="*/ 3511 h 4497"/>
                <a:gd name="T2" fmla="*/ 986 w 4497"/>
                <a:gd name="T3" fmla="*/ 3511 h 4497"/>
                <a:gd name="T4" fmla="*/ 986 w 4497"/>
                <a:gd name="T5" fmla="*/ 2687 h 4497"/>
                <a:gd name="T6" fmla="*/ 0 w 4497"/>
                <a:gd name="T7" fmla="*/ 0 h 4497"/>
                <a:gd name="T8" fmla="*/ 1873 w 4497"/>
                <a:gd name="T9" fmla="*/ 0 h 4497"/>
                <a:gd name="T10" fmla="*/ 2721 w 4497"/>
                <a:gd name="T11" fmla="*/ 1776 h 4497"/>
                <a:gd name="T12" fmla="*/ 4497 w 4497"/>
                <a:gd name="T13" fmla="*/ 2624 h 4497"/>
                <a:gd name="T14" fmla="*/ 4497 w 4497"/>
                <a:gd name="T15" fmla="*/ 4497 h 4497"/>
                <a:gd name="T16" fmla="*/ 1809 w 4497"/>
                <a:gd name="T17" fmla="*/ 3511 h 4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97" h="4497">
                  <a:moveTo>
                    <a:pt x="1809" y="3511"/>
                  </a:moveTo>
                  <a:lnTo>
                    <a:pt x="986" y="3511"/>
                  </a:lnTo>
                  <a:lnTo>
                    <a:pt x="986" y="2687"/>
                  </a:lnTo>
                  <a:cubicBezTo>
                    <a:pt x="369" y="1896"/>
                    <a:pt x="40" y="953"/>
                    <a:pt x="0" y="0"/>
                  </a:cubicBezTo>
                  <a:lnTo>
                    <a:pt x="1873" y="0"/>
                  </a:lnTo>
                  <a:cubicBezTo>
                    <a:pt x="1938" y="644"/>
                    <a:pt x="2222" y="1276"/>
                    <a:pt x="2721" y="1776"/>
                  </a:cubicBezTo>
                  <a:cubicBezTo>
                    <a:pt x="3221" y="2275"/>
                    <a:pt x="3853" y="2558"/>
                    <a:pt x="4497" y="2624"/>
                  </a:cubicBezTo>
                  <a:lnTo>
                    <a:pt x="4497" y="4497"/>
                  </a:lnTo>
                  <a:cubicBezTo>
                    <a:pt x="3544" y="4457"/>
                    <a:pt x="2601" y="4128"/>
                    <a:pt x="1809" y="35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Freeform 6"/>
            <p:cNvSpPr/>
            <p:nvPr>
              <p:custDataLst>
                <p:tags r:id="rId7"/>
              </p:custDataLst>
            </p:nvPr>
          </p:nvSpPr>
          <p:spPr bwMode="auto">
            <a:xfrm>
              <a:off x="3325813" y="1973262"/>
              <a:ext cx="1193800" cy="1196975"/>
            </a:xfrm>
            <a:custGeom>
              <a:avLst/>
              <a:gdLst>
                <a:gd name="T0" fmla="*/ 986 w 4497"/>
                <a:gd name="T1" fmla="*/ 1809 h 4497"/>
                <a:gd name="T2" fmla="*/ 986 w 4497"/>
                <a:gd name="T3" fmla="*/ 986 h 4497"/>
                <a:gd name="T4" fmla="*/ 1809 w 4497"/>
                <a:gd name="T5" fmla="*/ 986 h 4497"/>
                <a:gd name="T6" fmla="*/ 4497 w 4497"/>
                <a:gd name="T7" fmla="*/ 0 h 4497"/>
                <a:gd name="T8" fmla="*/ 4497 w 4497"/>
                <a:gd name="T9" fmla="*/ 1861 h 4497"/>
                <a:gd name="T10" fmla="*/ 2659 w 4497"/>
                <a:gd name="T11" fmla="*/ 2659 h 4497"/>
                <a:gd name="T12" fmla="*/ 1861 w 4497"/>
                <a:gd name="T13" fmla="*/ 4497 h 4497"/>
                <a:gd name="T14" fmla="*/ 0 w 4497"/>
                <a:gd name="T15" fmla="*/ 4497 h 4497"/>
                <a:gd name="T16" fmla="*/ 986 w 4497"/>
                <a:gd name="T17" fmla="*/ 1809 h 4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97" h="4497">
                  <a:moveTo>
                    <a:pt x="986" y="1809"/>
                  </a:moveTo>
                  <a:lnTo>
                    <a:pt x="986" y="986"/>
                  </a:lnTo>
                  <a:lnTo>
                    <a:pt x="1809" y="986"/>
                  </a:lnTo>
                  <a:cubicBezTo>
                    <a:pt x="2601" y="369"/>
                    <a:pt x="3544" y="40"/>
                    <a:pt x="4497" y="0"/>
                  </a:cubicBezTo>
                  <a:lnTo>
                    <a:pt x="4497" y="1861"/>
                  </a:lnTo>
                  <a:cubicBezTo>
                    <a:pt x="3824" y="1887"/>
                    <a:pt x="3165" y="2152"/>
                    <a:pt x="2659" y="2659"/>
                  </a:cubicBezTo>
                  <a:cubicBezTo>
                    <a:pt x="2152" y="3165"/>
                    <a:pt x="1887" y="3824"/>
                    <a:pt x="1861" y="4497"/>
                  </a:cubicBezTo>
                  <a:lnTo>
                    <a:pt x="0" y="4497"/>
                  </a:lnTo>
                  <a:cubicBezTo>
                    <a:pt x="40" y="3544"/>
                    <a:pt x="369" y="2601"/>
                    <a:pt x="986" y="18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Freeform 7"/>
            <p:cNvSpPr/>
            <p:nvPr>
              <p:custDataLst>
                <p:tags r:id="rId8"/>
              </p:custDataLst>
            </p:nvPr>
          </p:nvSpPr>
          <p:spPr bwMode="auto">
            <a:xfrm>
              <a:off x="4624388" y="3276600"/>
              <a:ext cx="1193800" cy="1198563"/>
            </a:xfrm>
            <a:custGeom>
              <a:avLst/>
              <a:gdLst>
                <a:gd name="T0" fmla="*/ 3511 w 4497"/>
                <a:gd name="T1" fmla="*/ 3511 h 4497"/>
                <a:gd name="T2" fmla="*/ 2687 w 4497"/>
                <a:gd name="T3" fmla="*/ 3511 h 4497"/>
                <a:gd name="T4" fmla="*/ 0 w 4497"/>
                <a:gd name="T5" fmla="*/ 4497 h 4497"/>
                <a:gd name="T6" fmla="*/ 0 w 4497"/>
                <a:gd name="T7" fmla="*/ 2636 h 4497"/>
                <a:gd name="T8" fmla="*/ 1838 w 4497"/>
                <a:gd name="T9" fmla="*/ 1838 h 4497"/>
                <a:gd name="T10" fmla="*/ 2636 w 4497"/>
                <a:gd name="T11" fmla="*/ 0 h 4497"/>
                <a:gd name="T12" fmla="*/ 4497 w 4497"/>
                <a:gd name="T13" fmla="*/ 0 h 4497"/>
                <a:gd name="T14" fmla="*/ 3511 w 4497"/>
                <a:gd name="T15" fmla="*/ 2687 h 4497"/>
                <a:gd name="T16" fmla="*/ 3511 w 4497"/>
                <a:gd name="T17" fmla="*/ 3511 h 4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97" h="4497">
                  <a:moveTo>
                    <a:pt x="3511" y="3511"/>
                  </a:moveTo>
                  <a:lnTo>
                    <a:pt x="2687" y="3511"/>
                  </a:lnTo>
                  <a:cubicBezTo>
                    <a:pt x="1896" y="4128"/>
                    <a:pt x="953" y="4457"/>
                    <a:pt x="0" y="4497"/>
                  </a:cubicBezTo>
                  <a:lnTo>
                    <a:pt x="0" y="2636"/>
                  </a:lnTo>
                  <a:cubicBezTo>
                    <a:pt x="673" y="2610"/>
                    <a:pt x="1332" y="2345"/>
                    <a:pt x="1838" y="1838"/>
                  </a:cubicBezTo>
                  <a:cubicBezTo>
                    <a:pt x="2345" y="1332"/>
                    <a:pt x="2610" y="673"/>
                    <a:pt x="2636" y="0"/>
                  </a:cubicBezTo>
                  <a:lnTo>
                    <a:pt x="4497" y="0"/>
                  </a:lnTo>
                  <a:cubicBezTo>
                    <a:pt x="4457" y="953"/>
                    <a:pt x="4128" y="1896"/>
                    <a:pt x="3511" y="2687"/>
                  </a:cubicBezTo>
                  <a:lnTo>
                    <a:pt x="3511" y="35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Freeform 8"/>
            <p:cNvSpPr/>
            <p:nvPr>
              <p:custDataLst>
                <p:tags r:id="rId9"/>
              </p:custDataLst>
            </p:nvPr>
          </p:nvSpPr>
          <p:spPr bwMode="auto">
            <a:xfrm>
              <a:off x="4624388" y="1973262"/>
              <a:ext cx="1193800" cy="1196975"/>
            </a:xfrm>
            <a:custGeom>
              <a:avLst/>
              <a:gdLst>
                <a:gd name="T0" fmla="*/ 3511 w 4497"/>
                <a:gd name="T1" fmla="*/ 1809 h 4497"/>
                <a:gd name="T2" fmla="*/ 4497 w 4497"/>
                <a:gd name="T3" fmla="*/ 4497 h 4497"/>
                <a:gd name="T4" fmla="*/ 2624 w 4497"/>
                <a:gd name="T5" fmla="*/ 4497 h 4497"/>
                <a:gd name="T6" fmla="*/ 1776 w 4497"/>
                <a:gd name="T7" fmla="*/ 2721 h 4497"/>
                <a:gd name="T8" fmla="*/ 0 w 4497"/>
                <a:gd name="T9" fmla="*/ 1873 h 4497"/>
                <a:gd name="T10" fmla="*/ 0 w 4497"/>
                <a:gd name="T11" fmla="*/ 0 h 4497"/>
                <a:gd name="T12" fmla="*/ 2687 w 4497"/>
                <a:gd name="T13" fmla="*/ 986 h 4497"/>
                <a:gd name="T14" fmla="*/ 3511 w 4497"/>
                <a:gd name="T15" fmla="*/ 986 h 4497"/>
                <a:gd name="T16" fmla="*/ 3511 w 4497"/>
                <a:gd name="T17" fmla="*/ 1809 h 4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97" h="4497">
                  <a:moveTo>
                    <a:pt x="3511" y="1809"/>
                  </a:moveTo>
                  <a:cubicBezTo>
                    <a:pt x="4128" y="2601"/>
                    <a:pt x="4457" y="3544"/>
                    <a:pt x="4497" y="4497"/>
                  </a:cubicBezTo>
                  <a:lnTo>
                    <a:pt x="2624" y="4497"/>
                  </a:lnTo>
                  <a:cubicBezTo>
                    <a:pt x="2558" y="3853"/>
                    <a:pt x="2275" y="3221"/>
                    <a:pt x="1776" y="2721"/>
                  </a:cubicBezTo>
                  <a:cubicBezTo>
                    <a:pt x="1276" y="2222"/>
                    <a:pt x="644" y="1938"/>
                    <a:pt x="0" y="1873"/>
                  </a:cubicBezTo>
                  <a:lnTo>
                    <a:pt x="0" y="0"/>
                  </a:lnTo>
                  <a:cubicBezTo>
                    <a:pt x="953" y="40"/>
                    <a:pt x="1896" y="369"/>
                    <a:pt x="2687" y="986"/>
                  </a:cubicBezTo>
                  <a:lnTo>
                    <a:pt x="3511" y="986"/>
                  </a:lnTo>
                  <a:lnTo>
                    <a:pt x="3511" y="18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TextBox 50"/>
            <p:cNvSpPr txBox="1"/>
            <p:nvPr>
              <p:custDataLst>
                <p:tags r:id="rId10"/>
              </p:custDataLst>
            </p:nvPr>
          </p:nvSpPr>
          <p:spPr>
            <a:xfrm>
              <a:off x="3786883" y="2348629"/>
              <a:ext cx="144016" cy="3385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935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293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TextBox 36"/>
            <p:cNvSpPr txBox="1"/>
            <p:nvPr>
              <p:custDataLst>
                <p:tags r:id="rId11"/>
              </p:custDataLst>
            </p:nvPr>
          </p:nvSpPr>
          <p:spPr>
            <a:xfrm>
              <a:off x="5251579" y="2348629"/>
              <a:ext cx="144016" cy="3385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935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  <a:endParaRPr kumimoji="0" lang="zh-CN" altLang="en-US" sz="293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TextBox 34"/>
            <p:cNvSpPr txBox="1"/>
            <p:nvPr>
              <p:custDataLst>
                <p:tags r:id="rId12"/>
              </p:custDataLst>
            </p:nvPr>
          </p:nvSpPr>
          <p:spPr>
            <a:xfrm>
              <a:off x="3786883" y="3767794"/>
              <a:ext cx="144016" cy="3385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935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  <a:endParaRPr kumimoji="0" lang="zh-CN" altLang="en-US" sz="293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TextBox 32"/>
            <p:cNvSpPr txBox="1"/>
            <p:nvPr>
              <p:custDataLst>
                <p:tags r:id="rId13"/>
              </p:custDataLst>
            </p:nvPr>
          </p:nvSpPr>
          <p:spPr>
            <a:xfrm>
              <a:off x="5251579" y="3767794"/>
              <a:ext cx="144016" cy="3385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935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293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53795" cy="119888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7" y="2692405"/>
            <a:ext cx="3840480" cy="829945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实验输出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解读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184" y="1542950"/>
            <a:ext cx="2800169" cy="280016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>
            <a:spLocks noChangeArrowheads="1"/>
          </p:cNvSpPr>
          <p:nvPr/>
        </p:nvSpPr>
        <p:spPr bwMode="auto">
          <a:xfrm>
            <a:off x="634918" y="237124"/>
            <a:ext cx="602361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定量指标（验证集 500 个样本）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50" name="等腰三角形 4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8655" y="1097280"/>
            <a:ext cx="8194675" cy="21932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8655" y="3348355"/>
            <a:ext cx="1061593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物理先验极其有效。 纯 U-Net 在同等容量、同等数据下，相关系数仅 0.0057（几乎等于在输出常数均值），而物理引导模型的相关系数为 1.0。这说明"光阑 → 衍射图样"的映射若交给网络从零学习，在 5000 样本规模下几乎学不动；把 FFT 作为可微层嵌入后，问题被化简为"学习一个接近 0 的残差"。</a:t>
            </a:r>
            <a:endParaRPr lang="zh-CN" altLang="en-US" sz="160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残差网络确实退化为近似恒等映射。 训练日志与可视化显示残差 ΔI≈0，即网络发现物理层已经足够好，无需额外修正——这与"输出层零初始化 + 残差正则"的设计预期一致。</a:t>
            </a:r>
            <a:endParaRPr lang="zh-CN" altLang="en-US" sz="160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634918" y="237124"/>
            <a:ext cx="7106285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训练过程图解读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-1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：正向模型预测总览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3" name="等腰三角形 22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2" name="图片 1" descr="train_result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5000" y="931545"/>
            <a:ext cx="7071360" cy="55276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886065" y="931545"/>
            <a:ext cx="4064000" cy="1768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从验证集中随机抽 4 个样本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每行第 5 列下方标注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sim MAE 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pred MAE。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读图要点：第 2、3、4 列肉眼几乎相同、第 5 列接近中性色（0），说明物理层已把主项算准、残差网络只做了极小修正——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体现了物理层与数据生成严格一致。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86065" y="3022600"/>
            <a:ext cx="3956685" cy="3379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634918" y="237124"/>
            <a:ext cx="8325485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训练过程图解读</a:t>
            </a: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-2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：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正向模型多分量损失曲线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5" name="等腰三角形 14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2" name="图片 1" descr="loss_curve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270635"/>
            <a:ext cx="12192000" cy="23837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5605" y="3654425"/>
            <a:ext cx="1150239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由 </a:t>
            </a:r>
            <a:r>
              <a:rPr lang="en-US" altLang="zh-CN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train.py::plot_loss_curve() </a:t>
            </a: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生成，横轴为 </a:t>
            </a:r>
            <a:r>
              <a:rPr lang="en-US" altLang="zh-CN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epoch，</a:t>
            </a: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蓝线 </a:t>
            </a:r>
            <a:r>
              <a:rPr lang="en-US" altLang="zh-CN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train、</a:t>
            </a: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橙线 </a:t>
            </a:r>
            <a:r>
              <a:rPr lang="en-US" altLang="zh-CN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val，</a:t>
            </a: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纵轴取对数，最多 4 个子图：</a:t>
            </a:r>
            <a:endParaRPr lang="zh-CN" altLang="en-US" sz="1600" b="0" i="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L1 loss：</a:t>
            </a: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空间域主损失，训练/验证同步快速下降并收敛，说明拟合有效且未明显过拟合；</a:t>
            </a:r>
            <a:endParaRPr lang="zh-CN" altLang="en-US" sz="1600" b="0" i="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Freq log-magnitude L1：</a:t>
            </a: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频域与真值的差，刻画旁瓣、级次等高频结构是否学对；</a:t>
            </a:r>
            <a:endParaRPr lang="zh-CN" altLang="en-US" sz="1600" b="0" i="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SSIM loss (1−SSIM)：</a:t>
            </a: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结构相似度损失，衡量几何结构（艾里环、光栅级次）的一致性；</a:t>
            </a:r>
            <a:endParaRPr lang="zh-CN" altLang="en-US" sz="1600" b="0" i="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Residual regularization ∣ΔI∣：</a:t>
            </a: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残差幅度正则项，稳定在极小值，对应"残差≈0"。</a:t>
            </a:r>
            <a:endParaRPr lang="zh-CN" altLang="en-US" sz="1600" b="0" i="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  <a:p>
            <a:pPr marL="0" indent="0">
              <a:lnSpc>
                <a:spcPct val="150000"/>
              </a:lnSpc>
            </a:pPr>
            <a:endParaRPr lang="zh-CN" altLang="en-US" sz="1600" b="0" i="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四条曲线同时单调下降且验证曲线贴合训练曲线，说明物理层提供了正确的起点，训练稳定、无发散。</a:t>
            </a:r>
            <a:endParaRPr lang="zh-CN" altLang="en-US" sz="1600" b="0" i="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634918" y="237124"/>
            <a:ext cx="7919085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训练过程图解读</a:t>
            </a: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-3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：无物理层基线训练曲线</a:t>
            </a:r>
            <a:endParaRPr lang="zh-CN" altLang="en-US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等腰三角形 14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92390" y="2260600"/>
            <a:ext cx="3890645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600" b="1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对比之前图可见：</a:t>
            </a:r>
            <a:endParaRPr lang="zh-CN" altLang="en-US" sz="1600" b="1" i="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纯数据驱动的 </a:t>
            </a:r>
            <a:r>
              <a:rPr lang="en-US" altLang="zh-CN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U-Net </a:t>
            </a: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收敛更慢、平台更高（验证 </a:t>
            </a:r>
            <a:r>
              <a:rPr lang="en-US" altLang="zh-CN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L1 </a:t>
            </a: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长期停在</a:t>
            </a:r>
            <a:r>
              <a:rPr lang="en-US" altLang="zh-CN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10^-3</a:t>
            </a: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量级，对应 </a:t>
            </a:r>
            <a:r>
              <a:rPr lang="en-US" altLang="zh-CN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MAE≈0.0027），</a:t>
            </a: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且下降幅度有限。</a:t>
            </a:r>
            <a:endParaRPr lang="zh-CN" altLang="en-US" sz="1600" b="0" i="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1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推测原因：</a:t>
            </a:r>
            <a:endParaRPr lang="zh-CN" altLang="en-US" sz="1600" b="1" i="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555555"/>
                </a:solidFill>
                <a:latin typeface="Helvetica LT Pro" panose="020B0504020202020204" charset="0"/>
                <a:ea typeface="Helvetica LT Pro" panose="020B0504020202020204" charset="0"/>
              </a:rPr>
              <a:t>学习的数据不够，参数难校准，耗费时间长，成效低。故暂定弃置，等待老师看法。</a:t>
            </a:r>
            <a:endParaRPr lang="zh-CN" altLang="en-US" sz="1600" b="0" i="0">
              <a:solidFill>
                <a:srgbClr val="555555"/>
              </a:solidFill>
              <a:latin typeface="Helvetica LT Pro" panose="020B0504020202020204" charset="0"/>
              <a:ea typeface="Helvetica LT Pro" panose="020B0504020202020204" charset="0"/>
            </a:endParaRPr>
          </a:p>
        </p:txBody>
      </p:sp>
      <p:pic>
        <p:nvPicPr>
          <p:cNvPr id="6" name="图片 5" descr="baseline_loss_curve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3995" y="1869440"/>
            <a:ext cx="7315200" cy="36576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197350" y="1080770"/>
            <a:ext cx="2722880" cy="1370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⬅多样本五联对比：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物理层与预测列高度一致，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残差图接近中性，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MAE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文本栏数值极小。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4918" y="237124"/>
            <a:ext cx="30873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评估可视化解读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3" name="图片 2" descr="sampl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1159510"/>
            <a:ext cx="3182620" cy="5100320"/>
          </a:xfrm>
          <a:prstGeom prst="rect">
            <a:avLst/>
          </a:prstGeom>
        </p:spPr>
      </p:pic>
      <p:pic>
        <p:nvPicPr>
          <p:cNvPr id="4" name="图片 3" descr="error_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170" y="2942590"/>
            <a:ext cx="7525385" cy="3317240"/>
          </a:xfrm>
          <a:prstGeom prst="rect">
            <a:avLst/>
          </a:prstGeom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771005" y="760730"/>
            <a:ext cx="5160645" cy="2011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⬇误差地图与剖面：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Improvement=|err_sim|-|err_pred|（RdYlGn，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绿=物理更好、红=更差）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30000"/>
              </a:lnSpc>
            </a:pPr>
            <a:r>
              <a:rPr lang="zh-CN" altLang="en-US" sz="16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物理与预测的误差图几乎全黑（误差极小），</a:t>
            </a:r>
            <a:r>
              <a:rPr lang="en-US" altLang="zh-CN" sz="16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Improvement </a:t>
            </a:r>
            <a:r>
              <a:rPr lang="zh-CN" altLang="en-US" sz="16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图整体偏绿，中心行剖面三条曲线几乎重合，说明不仅整体、连剖面细节都吻合。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4918" y="237124"/>
            <a:ext cx="30873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评估可视化解读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381365" y="1482090"/>
            <a:ext cx="3369310" cy="366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极端输入泛化测试：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这些形状多数未直接出现在训练分布中（如全通、全挡、单点等退化输入）。由于物理层是解析精确的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FFT，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即便网络没学过，物理层仍给出正确图样；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predicted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physics only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基本一致，说明物理层带来了对分布外输入的稳健性——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这正是纯数据驱动模型最难具备的能力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 descr="extreme_test"/>
          <p:cNvPicPr>
            <a:picLocks noChangeAspect="1"/>
          </p:cNvPicPr>
          <p:nvPr/>
        </p:nvPicPr>
        <p:blipFill>
          <a:blip r:embed="rId1"/>
          <a:srcRect b="49944"/>
          <a:stretch>
            <a:fillRect/>
          </a:stretch>
        </p:blipFill>
        <p:spPr>
          <a:xfrm>
            <a:off x="304165" y="1369695"/>
            <a:ext cx="3922395" cy="4599940"/>
          </a:xfrm>
          <a:prstGeom prst="rect">
            <a:avLst/>
          </a:prstGeom>
        </p:spPr>
      </p:pic>
      <p:pic>
        <p:nvPicPr>
          <p:cNvPr id="8" name="图片 7" descr="extreme_test"/>
          <p:cNvPicPr>
            <a:picLocks noChangeAspect="1"/>
          </p:cNvPicPr>
          <p:nvPr/>
        </p:nvPicPr>
        <p:blipFill>
          <a:blip r:embed="rId1"/>
          <a:srcRect l="1263" t="49980" r="-1263" b="-36"/>
          <a:stretch>
            <a:fillRect/>
          </a:stretch>
        </p:blipFill>
        <p:spPr>
          <a:xfrm>
            <a:off x="4342765" y="1369695"/>
            <a:ext cx="3922395" cy="459994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4918" y="237124"/>
            <a:ext cx="30873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评估可视化解读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085455" y="931545"/>
            <a:ext cx="3369310" cy="5631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圆孔半径参数扫描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小孔给出舒展的艾里斑与清晰同心环，随半径增大，中央亮斑收缩、环间距变小，符合艾里斑第一暗环半径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∝1/r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的理论预期。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光栅周期参数扫描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光栅周期越大，相邻衍射级次的间距越小、级次越密集；周期越小级次分得越开。这与光栅方程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dsinθ=mλ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的规律一致。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缝宽参数扫描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缝越窄，沿垂直方向的衍射越"铺开"、主极大越宽；缝越宽，能量越向中心集中。模型输出完整重现了"缝宽与衍射展宽成反比"的物理规律。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 descr="sweep_slit_width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3860" y="4829175"/>
            <a:ext cx="7589520" cy="1884045"/>
          </a:xfrm>
          <a:prstGeom prst="rect">
            <a:avLst/>
          </a:prstGeom>
        </p:spPr>
      </p:pic>
      <p:pic>
        <p:nvPicPr>
          <p:cNvPr id="7" name="图片 6" descr="sweep_grating_period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4495" y="2839085"/>
            <a:ext cx="7588885" cy="1884680"/>
          </a:xfrm>
          <a:prstGeom prst="rect">
            <a:avLst/>
          </a:prstGeom>
        </p:spPr>
      </p:pic>
      <p:pic>
        <p:nvPicPr>
          <p:cNvPr id="10" name="图片 9" descr="sweep_circle_radius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04495" y="849630"/>
            <a:ext cx="7588885" cy="188404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4918" y="237124"/>
            <a:ext cx="30873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对比实验图解读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149350" y="2621280"/>
            <a:ext cx="5361940" cy="1614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两模型并排对比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Physics + Residual（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绿字）与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Ground truth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几乎一致；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Baseline PureUNet（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红字）明显偏离真值；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误差对比列大面积偏绿，直观说明物理引导胜出。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 descr="side_by_s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0080" y="0"/>
            <a:ext cx="5147310" cy="68580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4918" y="237124"/>
            <a:ext cx="30873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对比实验图解读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68655" y="849630"/>
            <a:ext cx="11151235" cy="2353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逐样本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MAE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分布对比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左：三条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MAE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直方图叠加——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Baseline（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红）、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Physics+Residual（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绿）、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Physics only（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蓝），各自标注均值；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右：散点图，横轴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Baseline MAE、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纵轴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Physics+Residual MAE，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y=x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参考线，并标注"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Physics better on X% samples"。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红色分布整体右移（误差大）、绿色与蓝色挤在最左侧（误差极小）；散点几乎全部落在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y=x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线下方，说明在绝大多数样本上物理引导都更优。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 descr="mae_distribution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6300" y="3185160"/>
            <a:ext cx="10438765" cy="367284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34918" y="237124"/>
            <a:ext cx="30873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对比实验图解读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12470" y="821055"/>
            <a:ext cx="10664825" cy="1614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按基线误差排序的逐样本曲线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横轴为按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Baseline MAE 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升序排列的样本序号，纵轴 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MAE，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红=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Baseline、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绿=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Physics+Residual。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绿色曲线在整个横轴区间都压在红色曲线下方，且几乎贴近 0，说明物理引导的优势不是"个别样本的偶然"，而是全局、系统性的。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per_sample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2470" y="2349500"/>
            <a:ext cx="10767695" cy="442214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53795" cy="119888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7" y="2692405"/>
            <a:ext cx="3230880" cy="829945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关于物理层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184" y="1542950"/>
            <a:ext cx="2800169" cy="280016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3143002" y="1462102"/>
            <a:ext cx="8250555" cy="2540090"/>
            <a:chOff x="4238859" y="1324283"/>
            <a:chExt cx="8250555" cy="2540091"/>
          </a:xfrm>
        </p:grpSpPr>
        <p:sp>
          <p:nvSpPr>
            <p:cNvPr id="11" name="矩形 3"/>
            <p:cNvSpPr/>
            <p:nvPr/>
          </p:nvSpPr>
          <p:spPr>
            <a:xfrm>
              <a:off x="5026259" y="1747828"/>
              <a:ext cx="7463155" cy="1947546"/>
            </a:xfrm>
            <a:custGeom>
              <a:avLst/>
              <a:gdLst>
                <a:gd name="connsiteX0" fmla="*/ 0 w 5688632"/>
                <a:gd name="connsiteY0" fmla="*/ 0 h 2053062"/>
                <a:gd name="connsiteX1" fmla="*/ 5688632 w 5688632"/>
                <a:gd name="connsiteY1" fmla="*/ 0 h 2053062"/>
                <a:gd name="connsiteX2" fmla="*/ 5688632 w 5688632"/>
                <a:gd name="connsiteY2" fmla="*/ 2053062 h 2053062"/>
                <a:gd name="connsiteX3" fmla="*/ 0 w 5688632"/>
                <a:gd name="connsiteY3" fmla="*/ 2053062 h 2053062"/>
                <a:gd name="connsiteX4" fmla="*/ 0 w 5688632"/>
                <a:gd name="connsiteY4" fmla="*/ 0 h 2053062"/>
                <a:gd name="connsiteX0-1" fmla="*/ 433137 w 5688632"/>
                <a:gd name="connsiteY0-2" fmla="*/ 12032 h 2053062"/>
                <a:gd name="connsiteX1-3" fmla="*/ 5688632 w 5688632"/>
                <a:gd name="connsiteY1-4" fmla="*/ 0 h 2053062"/>
                <a:gd name="connsiteX2-5" fmla="*/ 5688632 w 5688632"/>
                <a:gd name="connsiteY2-6" fmla="*/ 2053062 h 2053062"/>
                <a:gd name="connsiteX3-7" fmla="*/ 0 w 5688632"/>
                <a:gd name="connsiteY3-8" fmla="*/ 2053062 h 2053062"/>
                <a:gd name="connsiteX4-9" fmla="*/ 433137 w 5688632"/>
                <a:gd name="connsiteY4-10" fmla="*/ 12032 h 20530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688632" h="2053062">
                  <a:moveTo>
                    <a:pt x="433137" y="12032"/>
                  </a:moveTo>
                  <a:lnTo>
                    <a:pt x="5688632" y="0"/>
                  </a:lnTo>
                  <a:lnTo>
                    <a:pt x="5688632" y="2053062"/>
                  </a:lnTo>
                  <a:lnTo>
                    <a:pt x="0" y="2053062"/>
                  </a:lnTo>
                  <a:lnTo>
                    <a:pt x="433137" y="1203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2160000" tIns="62400" rIns="96000" bIns="62400" anchor="ctr"/>
            <a:lstStyle/>
            <a:p>
              <a:pPr marL="0" marR="0" lvl="0" indent="0" algn="l" defTabSz="4572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71F6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直角三角形 2"/>
            <p:cNvSpPr/>
            <p:nvPr>
              <p:custDataLst>
                <p:tags r:id="rId2"/>
              </p:custDataLst>
            </p:nvPr>
          </p:nvSpPr>
          <p:spPr>
            <a:xfrm rot="17117050" flipH="1">
              <a:off x="5042291" y="2515071"/>
              <a:ext cx="1386578" cy="1312027"/>
            </a:xfrm>
            <a:custGeom>
              <a:avLst/>
              <a:gdLst>
                <a:gd name="connsiteX0" fmla="*/ 0 w 2088232"/>
                <a:gd name="connsiteY0" fmla="*/ 1842558 h 1842558"/>
                <a:gd name="connsiteX1" fmla="*/ 0 w 2088232"/>
                <a:gd name="connsiteY1" fmla="*/ 0 h 1842558"/>
                <a:gd name="connsiteX2" fmla="*/ 2088232 w 2088232"/>
                <a:gd name="connsiteY2" fmla="*/ 1842558 h 1842558"/>
                <a:gd name="connsiteX3" fmla="*/ 0 w 2088232"/>
                <a:gd name="connsiteY3" fmla="*/ 1842558 h 1842558"/>
                <a:gd name="connsiteX0-1" fmla="*/ 0 w 1625488"/>
                <a:gd name="connsiteY0-2" fmla="*/ 1842558 h 1842558"/>
                <a:gd name="connsiteX1-3" fmla="*/ 0 w 1625488"/>
                <a:gd name="connsiteY1-4" fmla="*/ 0 h 1842558"/>
                <a:gd name="connsiteX2-5" fmla="*/ 1625488 w 1625488"/>
                <a:gd name="connsiteY2-6" fmla="*/ 843012 h 1842558"/>
                <a:gd name="connsiteX3-7" fmla="*/ 0 w 1625488"/>
                <a:gd name="connsiteY3-8" fmla="*/ 1842558 h 1842558"/>
                <a:gd name="connsiteX0-9" fmla="*/ 0 w 1690209"/>
                <a:gd name="connsiteY0-10" fmla="*/ 1842558 h 1842558"/>
                <a:gd name="connsiteX1-11" fmla="*/ 0 w 1690209"/>
                <a:gd name="connsiteY1-12" fmla="*/ 0 h 1842558"/>
                <a:gd name="connsiteX2-13" fmla="*/ 1690209 w 1690209"/>
                <a:gd name="connsiteY2-14" fmla="*/ 149753 h 1842558"/>
                <a:gd name="connsiteX3-15" fmla="*/ 0 w 1690209"/>
                <a:gd name="connsiteY3-16" fmla="*/ 1842558 h 184255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690209" h="1842558">
                  <a:moveTo>
                    <a:pt x="0" y="1842558"/>
                  </a:moveTo>
                  <a:lnTo>
                    <a:pt x="0" y="0"/>
                  </a:lnTo>
                  <a:lnTo>
                    <a:pt x="1690209" y="149753"/>
                  </a:lnTo>
                  <a:lnTo>
                    <a:pt x="0" y="184255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35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任意多边形 13"/>
            <p:cNvSpPr/>
            <p:nvPr>
              <p:custDataLst>
                <p:tags r:id="rId3"/>
              </p:custDataLst>
            </p:nvPr>
          </p:nvSpPr>
          <p:spPr>
            <a:xfrm>
              <a:off x="4238859" y="1324283"/>
              <a:ext cx="2314575" cy="1370013"/>
            </a:xfrm>
            <a:custGeom>
              <a:avLst/>
              <a:gdLst>
                <a:gd name="connsiteX0" fmla="*/ 271763 w 2315387"/>
                <a:gd name="connsiteY0" fmla="*/ 0 h 1620180"/>
                <a:gd name="connsiteX1" fmla="*/ 1824103 w 2315387"/>
                <a:gd name="connsiteY1" fmla="*/ 232317 h 1620180"/>
                <a:gd name="connsiteX2" fmla="*/ 2315387 w 2315387"/>
                <a:gd name="connsiteY2" fmla="*/ 1620180 h 1620180"/>
                <a:gd name="connsiteX3" fmla="*/ 0 w 2315387"/>
                <a:gd name="connsiteY3" fmla="*/ 1528412 h 162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15387" h="1620180">
                  <a:moveTo>
                    <a:pt x="271763" y="0"/>
                  </a:moveTo>
                  <a:lnTo>
                    <a:pt x="1824103" y="232317"/>
                  </a:lnTo>
                  <a:lnTo>
                    <a:pt x="2315387" y="1620180"/>
                  </a:lnTo>
                  <a:lnTo>
                    <a:pt x="0" y="1528412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TextBox 7"/>
            <p:cNvSpPr txBox="1"/>
            <p:nvPr>
              <p:custDataLst>
                <p:tags r:id="rId4"/>
              </p:custDataLst>
            </p:nvPr>
          </p:nvSpPr>
          <p:spPr>
            <a:xfrm>
              <a:off x="4412243" y="1748102"/>
              <a:ext cx="1760683" cy="665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纯 </a:t>
              </a:r>
              <a:r>
                <a:rPr kumimoji="0" lang="en-US" altLang="zh-CN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CNN </a:t>
              </a:r>
              <a:r>
                <a:rPr kumimoji="0" lang="zh-CN" altLang="en-US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很难学 </a:t>
              </a:r>
              <a:r>
                <a:rPr kumimoji="0" lang="en-US" altLang="zh-CN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FFT</a:t>
              </a:r>
              <a:endPara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2" name="Text Box 13"/>
            <p:cNvSpPr txBox="1">
              <a:spLocks noChangeArrowheads="1"/>
            </p:cNvSpPr>
            <p:nvPr/>
          </p:nvSpPr>
          <p:spPr bwMode="gray">
            <a:xfrm>
              <a:off x="6550894" y="1757988"/>
              <a:ext cx="5910580" cy="19380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120650" indent="-1206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285750" marR="0" lvl="0" indent="-285750" algn="just" defTabSz="4572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CNN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的卷积核只覆盖一个小邻域，要"拼"出一个全局耦合算子，必须堆叠大量层 + 池化，把感受野慢慢扩大。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285750" marR="0" lvl="0" indent="-285750" algn="just" defTabSz="4572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重新学一个已知的确定性变换，等于浪费模型容量与数据；5000 个样本远远不够。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285750" marR="0" lvl="0" indent="-285750" algn="just" defTabSz="4572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傅里叶变换是全局算子。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FFT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的每一个输出像素都依赖全部输入像素，属于"全图耦合"。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5"/>
            </p:custDataLst>
          </p:nvPr>
        </p:nvGrpSpPr>
        <p:grpSpPr>
          <a:xfrm>
            <a:off x="1330325" y="3734435"/>
            <a:ext cx="8587105" cy="2728595"/>
            <a:chOff x="1706779" y="3596733"/>
            <a:chExt cx="8587315" cy="2563782"/>
          </a:xfrm>
        </p:grpSpPr>
        <p:sp>
          <p:nvSpPr>
            <p:cNvPr id="19" name="矩形 3"/>
            <p:cNvSpPr/>
            <p:nvPr/>
          </p:nvSpPr>
          <p:spPr>
            <a:xfrm>
              <a:off x="2474753" y="4174210"/>
              <a:ext cx="7819341" cy="1819058"/>
            </a:xfrm>
            <a:custGeom>
              <a:avLst/>
              <a:gdLst>
                <a:gd name="connsiteX0" fmla="*/ 0 w 5688632"/>
                <a:gd name="connsiteY0" fmla="*/ 0 h 2053062"/>
                <a:gd name="connsiteX1" fmla="*/ 5688632 w 5688632"/>
                <a:gd name="connsiteY1" fmla="*/ 0 h 2053062"/>
                <a:gd name="connsiteX2" fmla="*/ 5688632 w 5688632"/>
                <a:gd name="connsiteY2" fmla="*/ 2053062 h 2053062"/>
                <a:gd name="connsiteX3" fmla="*/ 0 w 5688632"/>
                <a:gd name="connsiteY3" fmla="*/ 2053062 h 2053062"/>
                <a:gd name="connsiteX4" fmla="*/ 0 w 5688632"/>
                <a:gd name="connsiteY4" fmla="*/ 0 h 2053062"/>
                <a:gd name="connsiteX0-1" fmla="*/ 433137 w 5688632"/>
                <a:gd name="connsiteY0-2" fmla="*/ 12032 h 2053062"/>
                <a:gd name="connsiteX1-3" fmla="*/ 5688632 w 5688632"/>
                <a:gd name="connsiteY1-4" fmla="*/ 0 h 2053062"/>
                <a:gd name="connsiteX2-5" fmla="*/ 5688632 w 5688632"/>
                <a:gd name="connsiteY2-6" fmla="*/ 2053062 h 2053062"/>
                <a:gd name="connsiteX3-7" fmla="*/ 0 w 5688632"/>
                <a:gd name="connsiteY3-8" fmla="*/ 2053062 h 2053062"/>
                <a:gd name="connsiteX4-9" fmla="*/ 433137 w 5688632"/>
                <a:gd name="connsiteY4-10" fmla="*/ 12032 h 20530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688632" h="2053062">
                  <a:moveTo>
                    <a:pt x="433137" y="12032"/>
                  </a:moveTo>
                  <a:lnTo>
                    <a:pt x="5688632" y="0"/>
                  </a:lnTo>
                  <a:lnTo>
                    <a:pt x="5688632" y="2053062"/>
                  </a:lnTo>
                  <a:lnTo>
                    <a:pt x="0" y="2053062"/>
                  </a:lnTo>
                  <a:lnTo>
                    <a:pt x="433137" y="1203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2160000" tIns="62400" rIns="96000" bIns="62400" anchor="ctr"/>
            <a:lstStyle/>
            <a:p>
              <a:pPr marL="0" marR="0" lvl="0" indent="0" algn="l" defTabSz="4572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71F6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直角三角形 2"/>
            <p:cNvSpPr/>
            <p:nvPr>
              <p:custDataLst>
                <p:tags r:id="rId6"/>
              </p:custDataLst>
            </p:nvPr>
          </p:nvSpPr>
          <p:spPr>
            <a:xfrm rot="17117050" flipH="1">
              <a:off x="2486725" y="4791148"/>
              <a:ext cx="1408213" cy="1330520"/>
            </a:xfrm>
            <a:custGeom>
              <a:avLst/>
              <a:gdLst>
                <a:gd name="connsiteX0" fmla="*/ 0 w 2088232"/>
                <a:gd name="connsiteY0" fmla="*/ 1842558 h 1842558"/>
                <a:gd name="connsiteX1" fmla="*/ 0 w 2088232"/>
                <a:gd name="connsiteY1" fmla="*/ 0 h 1842558"/>
                <a:gd name="connsiteX2" fmla="*/ 2088232 w 2088232"/>
                <a:gd name="connsiteY2" fmla="*/ 1842558 h 1842558"/>
                <a:gd name="connsiteX3" fmla="*/ 0 w 2088232"/>
                <a:gd name="connsiteY3" fmla="*/ 1842558 h 1842558"/>
                <a:gd name="connsiteX0-1" fmla="*/ 0 w 1625488"/>
                <a:gd name="connsiteY0-2" fmla="*/ 1842558 h 1842558"/>
                <a:gd name="connsiteX1-3" fmla="*/ 0 w 1625488"/>
                <a:gd name="connsiteY1-4" fmla="*/ 0 h 1842558"/>
                <a:gd name="connsiteX2-5" fmla="*/ 1625488 w 1625488"/>
                <a:gd name="connsiteY2-6" fmla="*/ 843012 h 1842558"/>
                <a:gd name="connsiteX3-7" fmla="*/ 0 w 1625488"/>
                <a:gd name="connsiteY3-8" fmla="*/ 1842558 h 1842558"/>
                <a:gd name="connsiteX0-9" fmla="*/ 0 w 1690209"/>
                <a:gd name="connsiteY0-10" fmla="*/ 1842558 h 1842558"/>
                <a:gd name="connsiteX1-11" fmla="*/ 0 w 1690209"/>
                <a:gd name="connsiteY1-12" fmla="*/ 0 h 1842558"/>
                <a:gd name="connsiteX2-13" fmla="*/ 1690209 w 1690209"/>
                <a:gd name="connsiteY2-14" fmla="*/ 149753 h 1842558"/>
                <a:gd name="connsiteX3-15" fmla="*/ 0 w 1690209"/>
                <a:gd name="connsiteY3-16" fmla="*/ 1842558 h 184255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690209" h="1842558">
                  <a:moveTo>
                    <a:pt x="0" y="1842558"/>
                  </a:moveTo>
                  <a:lnTo>
                    <a:pt x="0" y="0"/>
                  </a:lnTo>
                  <a:lnTo>
                    <a:pt x="1690209" y="149753"/>
                  </a:lnTo>
                  <a:lnTo>
                    <a:pt x="0" y="184255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35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任意多边形 20"/>
            <p:cNvSpPr/>
            <p:nvPr>
              <p:custDataLst>
                <p:tags r:id="rId7"/>
              </p:custDataLst>
            </p:nvPr>
          </p:nvSpPr>
          <p:spPr>
            <a:xfrm>
              <a:off x="1706779" y="3596733"/>
              <a:ext cx="2314575" cy="1370012"/>
            </a:xfrm>
            <a:custGeom>
              <a:avLst/>
              <a:gdLst>
                <a:gd name="connsiteX0" fmla="*/ 271763 w 2315387"/>
                <a:gd name="connsiteY0" fmla="*/ 0 h 1620180"/>
                <a:gd name="connsiteX1" fmla="*/ 1824103 w 2315387"/>
                <a:gd name="connsiteY1" fmla="*/ 232317 h 1620180"/>
                <a:gd name="connsiteX2" fmla="*/ 2315387 w 2315387"/>
                <a:gd name="connsiteY2" fmla="*/ 1620180 h 1620180"/>
                <a:gd name="connsiteX3" fmla="*/ 0 w 2315387"/>
                <a:gd name="connsiteY3" fmla="*/ 1528412 h 162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15387" h="1620180">
                  <a:moveTo>
                    <a:pt x="271763" y="0"/>
                  </a:moveTo>
                  <a:lnTo>
                    <a:pt x="1824103" y="232317"/>
                  </a:lnTo>
                  <a:lnTo>
                    <a:pt x="2315387" y="1620180"/>
                  </a:lnTo>
                  <a:lnTo>
                    <a:pt x="0" y="1528412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TextBox 8"/>
            <p:cNvSpPr txBox="1"/>
            <p:nvPr>
              <p:custDataLst>
                <p:tags r:id="rId8"/>
              </p:custDataLst>
            </p:nvPr>
          </p:nvSpPr>
          <p:spPr>
            <a:xfrm>
              <a:off x="1864171" y="3987849"/>
              <a:ext cx="1867972" cy="355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b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两种</a:t>
              </a:r>
              <a:r>
                <a:rPr kumimoji="0" lang="zh-CN" altLang="en-US" sz="1865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范式</a:t>
              </a:r>
              <a:endPara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13"/>
            <p:cNvSpPr txBox="1">
              <a:spLocks noChangeArrowheads="1"/>
            </p:cNvSpPr>
            <p:nvPr/>
          </p:nvSpPr>
          <p:spPr bwMode="gray">
            <a:xfrm>
              <a:off x="4141446" y="4445300"/>
              <a:ext cx="5878956" cy="398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120650" indent="-1206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2293791" y="1670339"/>
            <a:ext cx="606256" cy="913007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677732" y="3911726"/>
            <a:ext cx="659155" cy="1015663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634917" y="237124"/>
            <a:ext cx="417195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有物理层 </a:t>
            </a: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vs 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无物理层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0" name="等腰三角形 2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64915" y="4150360"/>
            <a:ext cx="7500620" cy="225298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634917" y="237124"/>
            <a:ext cx="701675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有物理层 </a:t>
            </a: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vs 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无物理层：损失函数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差异</a:t>
            </a:r>
            <a:endParaRPr lang="zh-CN" altLang="en-US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等腰三角形 2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5830" y="1514475"/>
            <a:ext cx="10339705" cy="28555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390" y="4810125"/>
            <a:ext cx="120732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残差正则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对 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baseline 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无意义——它没有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I sim​ 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ΔI 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的概念，是端到端直接输出。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SSIM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在 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baseline 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上会与 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L1 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目标冲突并主导梯度，因此在基线对比中显式置 0，保证两条曲线只看同一套 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L1/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频域指标，比较才公平。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634917" y="237124"/>
            <a:ext cx="661035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有物理层 </a:t>
            </a: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vs 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无物理层：代码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级差异</a:t>
            </a:r>
            <a:endParaRPr lang="zh-CN" altLang="en-US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等腰三角形 2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7805" y="1336040"/>
            <a:ext cx="11756390" cy="434657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634917" y="237124"/>
            <a:ext cx="620395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有物理层 </a:t>
            </a: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vs 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无物理层：效果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对比</a:t>
            </a:r>
            <a:endParaRPr lang="zh-CN" altLang="en-US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等腰三角形 2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7710" y="1052830"/>
            <a:ext cx="6891655" cy="27571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3705" y="4102735"/>
            <a:ext cx="110845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纯 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CNN 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基本"没学会"。 相关系数仅 0.0057，意味着输出与真值几乎不相关——网络退化成输出一个接近常数均值的结果，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MAE 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停在 0.0027 附近下不去。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物理引导模型几乎精确。 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Corr = 1.0，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误差到数值精度级别。因为物理层已给出主项，残差网络只需输出 ≈0 即可。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残差确实退化为恒等映射。 这正是"零初始化 + 残差正则"的预期结果：网络发现无需修正物理层。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>
            <a:off x="2324101" y="3079582"/>
            <a:ext cx="1545937" cy="1545937"/>
          </a:xfrm>
          <a:custGeom>
            <a:avLst/>
            <a:gdLst>
              <a:gd name="connsiteX0" fmla="*/ 0 w 1439167"/>
              <a:gd name="connsiteY0" fmla="*/ 719584 h 1439167"/>
              <a:gd name="connsiteX1" fmla="*/ 719584 w 1439167"/>
              <a:gd name="connsiteY1" fmla="*/ 0 h 1439167"/>
              <a:gd name="connsiteX2" fmla="*/ 1439168 w 1439167"/>
              <a:gd name="connsiteY2" fmla="*/ 719584 h 1439167"/>
              <a:gd name="connsiteX3" fmla="*/ 719584 w 1439167"/>
              <a:gd name="connsiteY3" fmla="*/ 1439168 h 1439167"/>
              <a:gd name="connsiteX4" fmla="*/ 0 w 1439167"/>
              <a:gd name="connsiteY4" fmla="*/ 719584 h 1439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167" h="1439167">
                <a:moveTo>
                  <a:pt x="0" y="719584"/>
                </a:moveTo>
                <a:cubicBezTo>
                  <a:pt x="0" y="322169"/>
                  <a:pt x="322169" y="0"/>
                  <a:pt x="719584" y="0"/>
                </a:cubicBezTo>
                <a:cubicBezTo>
                  <a:pt x="1116999" y="0"/>
                  <a:pt x="1439168" y="322169"/>
                  <a:pt x="1439168" y="719584"/>
                </a:cubicBezTo>
                <a:cubicBezTo>
                  <a:pt x="1439168" y="1116999"/>
                  <a:pt x="1116999" y="1439168"/>
                  <a:pt x="719584" y="1439168"/>
                </a:cubicBezTo>
                <a:cubicBezTo>
                  <a:pt x="322169" y="1439168"/>
                  <a:pt x="0" y="1116999"/>
                  <a:pt x="0" y="7195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物理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16297" y="1671778"/>
            <a:ext cx="4361543" cy="4361543"/>
            <a:chOff x="3526104" y="876860"/>
            <a:chExt cx="5124410" cy="5124410"/>
          </a:xfrm>
        </p:grpSpPr>
        <p:sp>
          <p:nvSpPr>
            <p:cNvPr id="8" name="空心弧 7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10800000"/>
                <a:gd name="adj2" fmla="val 1620000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空心弧 8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5400000"/>
                <a:gd name="adj2" fmla="val 1080000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空心弧 9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0"/>
                <a:gd name="adj2" fmla="val 540000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空心弧 10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16200000"/>
                <a:gd name="adj2" fmla="val 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12" name="组合 11"/>
            <p:cNvGrpSpPr/>
            <p:nvPr/>
          </p:nvGrpSpPr>
          <p:grpSpPr>
            <a:xfrm>
              <a:off x="5452593" y="4729836"/>
              <a:ext cx="1271434" cy="1271434"/>
              <a:chOff x="5147792" y="4934845"/>
              <a:chExt cx="1007417" cy="1007417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147792" y="4934845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38" name="Group 4"/>
              <p:cNvGrpSpPr>
                <a:grpSpLocks noChangeAspect="1"/>
              </p:cNvGrpSpPr>
              <p:nvPr/>
            </p:nvGrpSpPr>
            <p:grpSpPr bwMode="auto">
              <a:xfrm>
                <a:off x="5418313" y="5176357"/>
                <a:ext cx="466374" cy="524392"/>
                <a:chOff x="3313" y="3205"/>
                <a:chExt cx="418" cy="470"/>
              </a:xfrm>
              <a:solidFill>
                <a:schemeClr val="bg1"/>
              </a:solidFill>
            </p:grpSpPr>
            <p:sp>
              <p:nvSpPr>
                <p:cNvPr id="39" name="Freeform 5"/>
                <p:cNvSpPr/>
                <p:nvPr/>
              </p:nvSpPr>
              <p:spPr bwMode="auto">
                <a:xfrm>
                  <a:off x="3392" y="3507"/>
                  <a:ext cx="206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3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3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6"/>
                <p:cNvSpPr/>
                <p:nvPr/>
              </p:nvSpPr>
              <p:spPr bwMode="auto">
                <a:xfrm>
                  <a:off x="3392" y="3442"/>
                  <a:ext cx="206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2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2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2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1" name="Freeform 7"/>
                <p:cNvSpPr/>
                <p:nvPr/>
              </p:nvSpPr>
              <p:spPr bwMode="auto">
                <a:xfrm>
                  <a:off x="3392" y="3375"/>
                  <a:ext cx="206" cy="14"/>
                </a:xfrm>
                <a:custGeom>
                  <a:avLst/>
                  <a:gdLst>
                    <a:gd name="T0" fmla="*/ 84 w 86"/>
                    <a:gd name="T1" fmla="*/ 0 h 6"/>
                    <a:gd name="T2" fmla="*/ 3 w 86"/>
                    <a:gd name="T3" fmla="*/ 0 h 6"/>
                    <a:gd name="T4" fmla="*/ 0 w 86"/>
                    <a:gd name="T5" fmla="*/ 3 h 6"/>
                    <a:gd name="T6" fmla="*/ 3 w 86"/>
                    <a:gd name="T7" fmla="*/ 6 h 6"/>
                    <a:gd name="T8" fmla="*/ 84 w 86"/>
                    <a:gd name="T9" fmla="*/ 6 h 6"/>
                    <a:gd name="T10" fmla="*/ 86 w 86"/>
                    <a:gd name="T11" fmla="*/ 3 h 6"/>
                    <a:gd name="T12" fmla="*/ 84 w 86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6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84" y="6"/>
                        <a:pt x="84" y="6"/>
                        <a:pt x="84" y="6"/>
                      </a:cubicBezTo>
                      <a:cubicBezTo>
                        <a:pt x="85" y="6"/>
                        <a:pt x="86" y="5"/>
                        <a:pt x="86" y="3"/>
                      </a:cubicBezTo>
                      <a:cubicBezTo>
                        <a:pt x="86" y="2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2" name="Freeform 8"/>
                <p:cNvSpPr>
                  <a:spLocks noEditPoints="1"/>
                </p:cNvSpPr>
                <p:nvPr/>
              </p:nvSpPr>
              <p:spPr bwMode="auto">
                <a:xfrm>
                  <a:off x="3313" y="3205"/>
                  <a:ext cx="418" cy="470"/>
                </a:xfrm>
                <a:custGeom>
                  <a:avLst/>
                  <a:gdLst>
                    <a:gd name="T0" fmla="*/ 174 w 174"/>
                    <a:gd name="T1" fmla="*/ 25 h 196"/>
                    <a:gd name="T2" fmla="*/ 149 w 174"/>
                    <a:gd name="T3" fmla="*/ 0 h 196"/>
                    <a:gd name="T4" fmla="*/ 25 w 174"/>
                    <a:gd name="T5" fmla="*/ 0 h 196"/>
                    <a:gd name="T6" fmla="*/ 25 w 174"/>
                    <a:gd name="T7" fmla="*/ 0 h 196"/>
                    <a:gd name="T8" fmla="*/ 25 w 174"/>
                    <a:gd name="T9" fmla="*/ 0 h 196"/>
                    <a:gd name="T10" fmla="*/ 0 w 174"/>
                    <a:gd name="T11" fmla="*/ 25 h 196"/>
                    <a:gd name="T12" fmla="*/ 0 w 174"/>
                    <a:gd name="T13" fmla="*/ 169 h 196"/>
                    <a:gd name="T14" fmla="*/ 2 w 174"/>
                    <a:gd name="T15" fmla="*/ 174 h 196"/>
                    <a:gd name="T16" fmla="*/ 22 w 174"/>
                    <a:gd name="T17" fmla="*/ 193 h 196"/>
                    <a:gd name="T18" fmla="*/ 31 w 174"/>
                    <a:gd name="T19" fmla="*/ 193 h 196"/>
                    <a:gd name="T20" fmla="*/ 52 w 174"/>
                    <a:gd name="T21" fmla="*/ 173 h 196"/>
                    <a:gd name="T22" fmla="*/ 73 w 174"/>
                    <a:gd name="T23" fmla="*/ 194 h 196"/>
                    <a:gd name="T24" fmla="*/ 82 w 174"/>
                    <a:gd name="T25" fmla="*/ 194 h 196"/>
                    <a:gd name="T26" fmla="*/ 104 w 174"/>
                    <a:gd name="T27" fmla="*/ 173 h 196"/>
                    <a:gd name="T28" fmla="*/ 125 w 174"/>
                    <a:gd name="T29" fmla="*/ 194 h 196"/>
                    <a:gd name="T30" fmla="*/ 130 w 174"/>
                    <a:gd name="T31" fmla="*/ 196 h 196"/>
                    <a:gd name="T32" fmla="*/ 134 w 174"/>
                    <a:gd name="T33" fmla="*/ 194 h 196"/>
                    <a:gd name="T34" fmla="*/ 153 w 174"/>
                    <a:gd name="T35" fmla="*/ 175 h 196"/>
                    <a:gd name="T36" fmla="*/ 155 w 174"/>
                    <a:gd name="T37" fmla="*/ 170 h 196"/>
                    <a:gd name="T38" fmla="*/ 155 w 174"/>
                    <a:gd name="T39" fmla="*/ 49 h 196"/>
                    <a:gd name="T40" fmla="*/ 174 w 174"/>
                    <a:gd name="T41" fmla="*/ 25 h 196"/>
                    <a:gd name="T42" fmla="*/ 130 w 174"/>
                    <a:gd name="T43" fmla="*/ 180 h 196"/>
                    <a:gd name="T44" fmla="*/ 108 w 174"/>
                    <a:gd name="T45" fmla="*/ 159 h 196"/>
                    <a:gd name="T46" fmla="*/ 99 w 174"/>
                    <a:gd name="T47" fmla="*/ 159 h 196"/>
                    <a:gd name="T48" fmla="*/ 78 w 174"/>
                    <a:gd name="T49" fmla="*/ 180 h 196"/>
                    <a:gd name="T50" fmla="*/ 57 w 174"/>
                    <a:gd name="T51" fmla="*/ 159 h 196"/>
                    <a:gd name="T52" fmla="*/ 47 w 174"/>
                    <a:gd name="T53" fmla="*/ 159 h 196"/>
                    <a:gd name="T54" fmla="*/ 27 w 174"/>
                    <a:gd name="T55" fmla="*/ 179 h 196"/>
                    <a:gd name="T56" fmla="*/ 13 w 174"/>
                    <a:gd name="T57" fmla="*/ 166 h 196"/>
                    <a:gd name="T58" fmla="*/ 13 w 174"/>
                    <a:gd name="T59" fmla="*/ 25 h 196"/>
                    <a:gd name="T60" fmla="*/ 25 w 174"/>
                    <a:gd name="T61" fmla="*/ 14 h 196"/>
                    <a:gd name="T62" fmla="*/ 25 w 174"/>
                    <a:gd name="T63" fmla="*/ 14 h 196"/>
                    <a:gd name="T64" fmla="*/ 25 w 174"/>
                    <a:gd name="T65" fmla="*/ 14 h 196"/>
                    <a:gd name="T66" fmla="*/ 25 w 174"/>
                    <a:gd name="T67" fmla="*/ 14 h 196"/>
                    <a:gd name="T68" fmla="*/ 37 w 174"/>
                    <a:gd name="T69" fmla="*/ 25 h 196"/>
                    <a:gd name="T70" fmla="*/ 25 w 174"/>
                    <a:gd name="T71" fmla="*/ 36 h 196"/>
                    <a:gd name="T72" fmla="*/ 18 w 174"/>
                    <a:gd name="T73" fmla="*/ 43 h 196"/>
                    <a:gd name="T74" fmla="*/ 25 w 174"/>
                    <a:gd name="T75" fmla="*/ 50 h 196"/>
                    <a:gd name="T76" fmla="*/ 142 w 174"/>
                    <a:gd name="T77" fmla="*/ 50 h 196"/>
                    <a:gd name="T78" fmla="*/ 142 w 174"/>
                    <a:gd name="T79" fmla="*/ 168 h 196"/>
                    <a:gd name="T80" fmla="*/ 130 w 174"/>
                    <a:gd name="T81" fmla="*/ 180 h 196"/>
                    <a:gd name="T82" fmla="*/ 149 w 174"/>
                    <a:gd name="T83" fmla="*/ 36 h 196"/>
                    <a:gd name="T84" fmla="*/ 47 w 174"/>
                    <a:gd name="T85" fmla="*/ 36 h 196"/>
                    <a:gd name="T86" fmla="*/ 50 w 174"/>
                    <a:gd name="T87" fmla="*/ 25 h 196"/>
                    <a:gd name="T88" fmla="*/ 47 w 174"/>
                    <a:gd name="T89" fmla="*/ 14 h 196"/>
                    <a:gd name="T90" fmla="*/ 149 w 174"/>
                    <a:gd name="T91" fmla="*/ 14 h 196"/>
                    <a:gd name="T92" fmla="*/ 161 w 174"/>
                    <a:gd name="T93" fmla="*/ 25 h 196"/>
                    <a:gd name="T94" fmla="*/ 149 w 174"/>
                    <a:gd name="T95" fmla="*/ 36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74" h="196">
                      <a:moveTo>
                        <a:pt x="174" y="25"/>
                      </a:moveTo>
                      <a:cubicBezTo>
                        <a:pt x="174" y="11"/>
                        <a:pt x="163" y="0"/>
                        <a:pt x="149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71"/>
                        <a:pt x="1" y="172"/>
                        <a:pt x="2" y="174"/>
                      </a:cubicBezTo>
                      <a:cubicBezTo>
                        <a:pt x="22" y="193"/>
                        <a:pt x="22" y="193"/>
                        <a:pt x="22" y="193"/>
                      </a:cubicBezTo>
                      <a:cubicBezTo>
                        <a:pt x="25" y="196"/>
                        <a:pt x="29" y="196"/>
                        <a:pt x="31" y="193"/>
                      </a:cubicBezTo>
                      <a:cubicBezTo>
                        <a:pt x="52" y="173"/>
                        <a:pt x="52" y="173"/>
                        <a:pt x="52" y="173"/>
                      </a:cubicBezTo>
                      <a:cubicBezTo>
                        <a:pt x="73" y="194"/>
                        <a:pt x="73" y="194"/>
                        <a:pt x="73" y="194"/>
                      </a:cubicBezTo>
                      <a:cubicBezTo>
                        <a:pt x="76" y="196"/>
                        <a:pt x="80" y="196"/>
                        <a:pt x="82" y="194"/>
                      </a:cubicBezTo>
                      <a:cubicBezTo>
                        <a:pt x="104" y="173"/>
                        <a:pt x="104" y="173"/>
                        <a:pt x="104" y="173"/>
                      </a:cubicBezTo>
                      <a:cubicBezTo>
                        <a:pt x="125" y="194"/>
                        <a:pt x="125" y="194"/>
                        <a:pt x="125" y="194"/>
                      </a:cubicBezTo>
                      <a:cubicBezTo>
                        <a:pt x="126" y="195"/>
                        <a:pt x="128" y="196"/>
                        <a:pt x="130" y="196"/>
                      </a:cubicBezTo>
                      <a:cubicBezTo>
                        <a:pt x="131" y="196"/>
                        <a:pt x="133" y="195"/>
                        <a:pt x="134" y="194"/>
                      </a:cubicBezTo>
                      <a:cubicBezTo>
                        <a:pt x="153" y="175"/>
                        <a:pt x="153" y="175"/>
                        <a:pt x="153" y="175"/>
                      </a:cubicBezTo>
                      <a:cubicBezTo>
                        <a:pt x="155" y="174"/>
                        <a:pt x="155" y="172"/>
                        <a:pt x="155" y="170"/>
                      </a:cubicBezTo>
                      <a:cubicBezTo>
                        <a:pt x="155" y="49"/>
                        <a:pt x="155" y="49"/>
                        <a:pt x="155" y="49"/>
                      </a:cubicBezTo>
                      <a:cubicBezTo>
                        <a:pt x="166" y="46"/>
                        <a:pt x="174" y="36"/>
                        <a:pt x="174" y="25"/>
                      </a:cubicBezTo>
                      <a:close/>
                      <a:moveTo>
                        <a:pt x="130" y="180"/>
                      </a:moveTo>
                      <a:cubicBezTo>
                        <a:pt x="108" y="159"/>
                        <a:pt x="108" y="159"/>
                        <a:pt x="108" y="159"/>
                      </a:cubicBezTo>
                      <a:cubicBezTo>
                        <a:pt x="106" y="157"/>
                        <a:pt x="102" y="157"/>
                        <a:pt x="99" y="159"/>
                      </a:cubicBezTo>
                      <a:cubicBezTo>
                        <a:pt x="78" y="180"/>
                        <a:pt x="78" y="180"/>
                        <a:pt x="78" y="180"/>
                      </a:cubicBezTo>
                      <a:cubicBezTo>
                        <a:pt x="57" y="159"/>
                        <a:pt x="57" y="159"/>
                        <a:pt x="57" y="159"/>
                      </a:cubicBezTo>
                      <a:cubicBezTo>
                        <a:pt x="54" y="157"/>
                        <a:pt x="50" y="157"/>
                        <a:pt x="47" y="159"/>
                      </a:cubicBezTo>
                      <a:cubicBezTo>
                        <a:pt x="27" y="179"/>
                        <a:pt x="27" y="179"/>
                        <a:pt x="27" y="179"/>
                      </a:cubicBezTo>
                      <a:cubicBezTo>
                        <a:pt x="13" y="166"/>
                        <a:pt x="13" y="166"/>
                        <a:pt x="13" y="166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3" y="19"/>
                        <a:pt x="18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32" y="14"/>
                        <a:pt x="37" y="19"/>
                        <a:pt x="37" y="25"/>
                      </a:cubicBezTo>
                      <a:cubicBezTo>
                        <a:pt x="37" y="31"/>
                        <a:pt x="32" y="36"/>
                        <a:pt x="25" y="36"/>
                      </a:cubicBezTo>
                      <a:cubicBezTo>
                        <a:pt x="21" y="36"/>
                        <a:pt x="18" y="39"/>
                        <a:pt x="18" y="43"/>
                      </a:cubicBezTo>
                      <a:cubicBezTo>
                        <a:pt x="18" y="47"/>
                        <a:pt x="21" y="50"/>
                        <a:pt x="25" y="50"/>
                      </a:cubicBezTo>
                      <a:cubicBezTo>
                        <a:pt x="142" y="50"/>
                        <a:pt x="142" y="50"/>
                        <a:pt x="142" y="50"/>
                      </a:cubicBezTo>
                      <a:cubicBezTo>
                        <a:pt x="142" y="168"/>
                        <a:pt x="142" y="168"/>
                        <a:pt x="142" y="168"/>
                      </a:cubicBezTo>
                      <a:lnTo>
                        <a:pt x="130" y="180"/>
                      </a:lnTo>
                      <a:close/>
                      <a:moveTo>
                        <a:pt x="149" y="36"/>
                      </a:moveTo>
                      <a:cubicBezTo>
                        <a:pt x="47" y="36"/>
                        <a:pt x="47" y="36"/>
                        <a:pt x="47" y="36"/>
                      </a:cubicBezTo>
                      <a:cubicBezTo>
                        <a:pt x="49" y="33"/>
                        <a:pt x="50" y="29"/>
                        <a:pt x="50" y="25"/>
                      </a:cubicBezTo>
                      <a:cubicBezTo>
                        <a:pt x="50" y="21"/>
                        <a:pt x="49" y="17"/>
                        <a:pt x="47" y="14"/>
                      </a:cubicBezTo>
                      <a:cubicBezTo>
                        <a:pt x="149" y="14"/>
                        <a:pt x="149" y="14"/>
                        <a:pt x="149" y="14"/>
                      </a:cubicBezTo>
                      <a:cubicBezTo>
                        <a:pt x="155" y="14"/>
                        <a:pt x="161" y="19"/>
                        <a:pt x="161" y="25"/>
                      </a:cubicBezTo>
                      <a:cubicBezTo>
                        <a:pt x="161" y="31"/>
                        <a:pt x="155" y="36"/>
                        <a:pt x="149" y="3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13" name="组合 12"/>
            <p:cNvGrpSpPr/>
            <p:nvPr/>
          </p:nvGrpSpPr>
          <p:grpSpPr>
            <a:xfrm>
              <a:off x="3526104" y="2803349"/>
              <a:ext cx="1271434" cy="1271434"/>
              <a:chOff x="3621344" y="3408398"/>
              <a:chExt cx="1007417" cy="1007417"/>
            </a:xfrm>
          </p:grpSpPr>
          <p:sp>
            <p:nvSpPr>
              <p:cNvPr id="30" name="任意多边形 29"/>
              <p:cNvSpPr/>
              <p:nvPr/>
            </p:nvSpPr>
            <p:spPr>
              <a:xfrm>
                <a:off x="3621344" y="3408398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31" name="Group 11"/>
              <p:cNvGrpSpPr>
                <a:grpSpLocks noChangeAspect="1"/>
              </p:cNvGrpSpPr>
              <p:nvPr/>
            </p:nvGrpSpPr>
            <p:grpSpPr bwMode="auto">
              <a:xfrm>
                <a:off x="3916411" y="3654075"/>
                <a:ext cx="417282" cy="524392"/>
                <a:chOff x="2398" y="2256"/>
                <a:chExt cx="374" cy="470"/>
              </a:xfrm>
              <a:solidFill>
                <a:schemeClr val="bg1"/>
              </a:solidFill>
            </p:grpSpPr>
            <p:sp>
              <p:nvSpPr>
                <p:cNvPr id="32" name="Freeform 12"/>
                <p:cNvSpPr/>
                <p:nvPr/>
              </p:nvSpPr>
              <p:spPr bwMode="auto">
                <a:xfrm>
                  <a:off x="2478" y="2558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3" name="Freeform 13"/>
                <p:cNvSpPr/>
                <p:nvPr/>
              </p:nvSpPr>
              <p:spPr bwMode="auto">
                <a:xfrm>
                  <a:off x="2478" y="2505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4" name="Freeform 14"/>
                <p:cNvSpPr/>
                <p:nvPr/>
              </p:nvSpPr>
              <p:spPr bwMode="auto">
                <a:xfrm>
                  <a:off x="2478" y="2452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5" name="Freeform 15"/>
                <p:cNvSpPr/>
                <p:nvPr/>
              </p:nvSpPr>
              <p:spPr bwMode="auto">
                <a:xfrm>
                  <a:off x="2478" y="2402"/>
                  <a:ext cx="101" cy="12"/>
                </a:xfrm>
                <a:custGeom>
                  <a:avLst/>
                  <a:gdLst>
                    <a:gd name="T0" fmla="*/ 2 w 42"/>
                    <a:gd name="T1" fmla="*/ 5 h 5"/>
                    <a:gd name="T2" fmla="*/ 39 w 42"/>
                    <a:gd name="T3" fmla="*/ 5 h 5"/>
                    <a:gd name="T4" fmla="*/ 42 w 42"/>
                    <a:gd name="T5" fmla="*/ 2 h 5"/>
                    <a:gd name="T6" fmla="*/ 39 w 42"/>
                    <a:gd name="T7" fmla="*/ 0 h 5"/>
                    <a:gd name="T8" fmla="*/ 2 w 42"/>
                    <a:gd name="T9" fmla="*/ 0 h 5"/>
                    <a:gd name="T10" fmla="*/ 0 w 42"/>
                    <a:gd name="T11" fmla="*/ 2 h 5"/>
                    <a:gd name="T12" fmla="*/ 2 w 42"/>
                    <a:gd name="T13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5">
                      <a:moveTo>
                        <a:pt x="2" y="5"/>
                      </a:moveTo>
                      <a:cubicBezTo>
                        <a:pt x="39" y="5"/>
                        <a:pt x="39" y="5"/>
                        <a:pt x="39" y="5"/>
                      </a:cubicBezTo>
                      <a:cubicBezTo>
                        <a:pt x="41" y="5"/>
                        <a:pt x="42" y="4"/>
                        <a:pt x="42" y="2"/>
                      </a:cubicBezTo>
                      <a:cubicBezTo>
                        <a:pt x="42" y="1"/>
                        <a:pt x="41" y="0"/>
                        <a:pt x="39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2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6" name="Freeform 16"/>
                <p:cNvSpPr>
                  <a:spLocks noEditPoints="1"/>
                </p:cNvSpPr>
                <p:nvPr/>
              </p:nvSpPr>
              <p:spPr bwMode="auto">
                <a:xfrm>
                  <a:off x="2398" y="2256"/>
                  <a:ext cx="374" cy="470"/>
                </a:xfrm>
                <a:custGeom>
                  <a:avLst/>
                  <a:gdLst>
                    <a:gd name="T0" fmla="*/ 153 w 155"/>
                    <a:gd name="T1" fmla="*/ 31 h 196"/>
                    <a:gd name="T2" fmla="*/ 125 w 155"/>
                    <a:gd name="T3" fmla="*/ 2 h 196"/>
                    <a:gd name="T4" fmla="*/ 120 w 155"/>
                    <a:gd name="T5" fmla="*/ 0 h 196"/>
                    <a:gd name="T6" fmla="*/ 6 w 155"/>
                    <a:gd name="T7" fmla="*/ 0 h 196"/>
                    <a:gd name="T8" fmla="*/ 0 w 155"/>
                    <a:gd name="T9" fmla="*/ 7 h 196"/>
                    <a:gd name="T10" fmla="*/ 0 w 155"/>
                    <a:gd name="T11" fmla="*/ 169 h 196"/>
                    <a:gd name="T12" fmla="*/ 2 w 155"/>
                    <a:gd name="T13" fmla="*/ 174 h 196"/>
                    <a:gd name="T14" fmla="*/ 22 w 155"/>
                    <a:gd name="T15" fmla="*/ 193 h 196"/>
                    <a:gd name="T16" fmla="*/ 31 w 155"/>
                    <a:gd name="T17" fmla="*/ 193 h 196"/>
                    <a:gd name="T18" fmla="*/ 52 w 155"/>
                    <a:gd name="T19" fmla="*/ 173 h 196"/>
                    <a:gd name="T20" fmla="*/ 73 w 155"/>
                    <a:gd name="T21" fmla="*/ 194 h 196"/>
                    <a:gd name="T22" fmla="*/ 82 w 155"/>
                    <a:gd name="T23" fmla="*/ 194 h 196"/>
                    <a:gd name="T24" fmla="*/ 103 w 155"/>
                    <a:gd name="T25" fmla="*/ 173 h 196"/>
                    <a:gd name="T26" fmla="*/ 125 w 155"/>
                    <a:gd name="T27" fmla="*/ 194 h 196"/>
                    <a:gd name="T28" fmla="*/ 129 w 155"/>
                    <a:gd name="T29" fmla="*/ 196 h 196"/>
                    <a:gd name="T30" fmla="*/ 134 w 155"/>
                    <a:gd name="T31" fmla="*/ 194 h 196"/>
                    <a:gd name="T32" fmla="*/ 153 w 155"/>
                    <a:gd name="T33" fmla="*/ 175 h 196"/>
                    <a:gd name="T34" fmla="*/ 155 w 155"/>
                    <a:gd name="T35" fmla="*/ 170 h 196"/>
                    <a:gd name="T36" fmla="*/ 155 w 155"/>
                    <a:gd name="T37" fmla="*/ 35 h 196"/>
                    <a:gd name="T38" fmla="*/ 153 w 155"/>
                    <a:gd name="T39" fmla="*/ 31 h 196"/>
                    <a:gd name="T40" fmla="*/ 129 w 155"/>
                    <a:gd name="T41" fmla="*/ 180 h 196"/>
                    <a:gd name="T42" fmla="*/ 108 w 155"/>
                    <a:gd name="T43" fmla="*/ 159 h 196"/>
                    <a:gd name="T44" fmla="*/ 99 w 155"/>
                    <a:gd name="T45" fmla="*/ 159 h 196"/>
                    <a:gd name="T46" fmla="*/ 77 w 155"/>
                    <a:gd name="T47" fmla="*/ 180 h 196"/>
                    <a:gd name="T48" fmla="*/ 56 w 155"/>
                    <a:gd name="T49" fmla="*/ 159 h 196"/>
                    <a:gd name="T50" fmla="*/ 52 w 155"/>
                    <a:gd name="T51" fmla="*/ 157 h 196"/>
                    <a:gd name="T52" fmla="*/ 47 w 155"/>
                    <a:gd name="T53" fmla="*/ 159 h 196"/>
                    <a:gd name="T54" fmla="*/ 26 w 155"/>
                    <a:gd name="T55" fmla="*/ 179 h 196"/>
                    <a:gd name="T56" fmla="*/ 13 w 155"/>
                    <a:gd name="T57" fmla="*/ 166 h 196"/>
                    <a:gd name="T58" fmla="*/ 13 w 155"/>
                    <a:gd name="T59" fmla="*/ 14 h 196"/>
                    <a:gd name="T60" fmla="*/ 116 w 155"/>
                    <a:gd name="T61" fmla="*/ 14 h 196"/>
                    <a:gd name="T62" fmla="*/ 116 w 155"/>
                    <a:gd name="T63" fmla="*/ 35 h 196"/>
                    <a:gd name="T64" fmla="*/ 120 w 155"/>
                    <a:gd name="T65" fmla="*/ 39 h 196"/>
                    <a:gd name="T66" fmla="*/ 142 w 155"/>
                    <a:gd name="T67" fmla="*/ 39 h 196"/>
                    <a:gd name="T68" fmla="*/ 142 w 155"/>
                    <a:gd name="T69" fmla="*/ 168 h 196"/>
                    <a:gd name="T70" fmla="*/ 129 w 155"/>
                    <a:gd name="T71" fmla="*/ 180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55" h="196">
                      <a:moveTo>
                        <a:pt x="153" y="31"/>
                      </a:moveTo>
                      <a:cubicBezTo>
                        <a:pt x="125" y="2"/>
                        <a:pt x="125" y="2"/>
                        <a:pt x="125" y="2"/>
                      </a:cubicBezTo>
                      <a:cubicBezTo>
                        <a:pt x="123" y="1"/>
                        <a:pt x="122" y="0"/>
                        <a:pt x="12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71"/>
                        <a:pt x="0" y="172"/>
                        <a:pt x="2" y="174"/>
                      </a:cubicBezTo>
                      <a:cubicBezTo>
                        <a:pt x="22" y="193"/>
                        <a:pt x="22" y="193"/>
                        <a:pt x="22" y="193"/>
                      </a:cubicBezTo>
                      <a:cubicBezTo>
                        <a:pt x="24" y="196"/>
                        <a:pt x="28" y="196"/>
                        <a:pt x="31" y="193"/>
                      </a:cubicBezTo>
                      <a:cubicBezTo>
                        <a:pt x="52" y="173"/>
                        <a:pt x="52" y="173"/>
                        <a:pt x="52" y="173"/>
                      </a:cubicBezTo>
                      <a:cubicBezTo>
                        <a:pt x="73" y="194"/>
                        <a:pt x="73" y="194"/>
                        <a:pt x="73" y="194"/>
                      </a:cubicBezTo>
                      <a:cubicBezTo>
                        <a:pt x="75" y="196"/>
                        <a:pt x="80" y="196"/>
                        <a:pt x="82" y="194"/>
                      </a:cubicBezTo>
                      <a:cubicBezTo>
                        <a:pt x="103" y="173"/>
                        <a:pt x="103" y="173"/>
                        <a:pt x="103" y="173"/>
                      </a:cubicBezTo>
                      <a:cubicBezTo>
                        <a:pt x="125" y="194"/>
                        <a:pt x="125" y="194"/>
                        <a:pt x="125" y="194"/>
                      </a:cubicBezTo>
                      <a:cubicBezTo>
                        <a:pt x="126" y="195"/>
                        <a:pt x="128" y="196"/>
                        <a:pt x="129" y="196"/>
                      </a:cubicBezTo>
                      <a:cubicBezTo>
                        <a:pt x="131" y="196"/>
                        <a:pt x="133" y="195"/>
                        <a:pt x="134" y="194"/>
                      </a:cubicBezTo>
                      <a:cubicBezTo>
                        <a:pt x="153" y="175"/>
                        <a:pt x="153" y="175"/>
                        <a:pt x="153" y="175"/>
                      </a:cubicBezTo>
                      <a:cubicBezTo>
                        <a:pt x="154" y="174"/>
                        <a:pt x="155" y="172"/>
                        <a:pt x="155" y="170"/>
                      </a:cubicBezTo>
                      <a:cubicBezTo>
                        <a:pt x="155" y="35"/>
                        <a:pt x="155" y="35"/>
                        <a:pt x="155" y="35"/>
                      </a:cubicBezTo>
                      <a:cubicBezTo>
                        <a:pt x="155" y="34"/>
                        <a:pt x="155" y="32"/>
                        <a:pt x="153" y="31"/>
                      </a:cubicBezTo>
                      <a:close/>
                      <a:moveTo>
                        <a:pt x="129" y="180"/>
                      </a:moveTo>
                      <a:cubicBezTo>
                        <a:pt x="108" y="159"/>
                        <a:pt x="108" y="159"/>
                        <a:pt x="108" y="159"/>
                      </a:cubicBezTo>
                      <a:cubicBezTo>
                        <a:pt x="105" y="157"/>
                        <a:pt x="101" y="157"/>
                        <a:pt x="99" y="159"/>
                      </a:cubicBezTo>
                      <a:cubicBezTo>
                        <a:pt x="77" y="180"/>
                        <a:pt x="77" y="180"/>
                        <a:pt x="77" y="180"/>
                      </a:cubicBezTo>
                      <a:cubicBezTo>
                        <a:pt x="56" y="159"/>
                        <a:pt x="56" y="159"/>
                        <a:pt x="56" y="159"/>
                      </a:cubicBezTo>
                      <a:cubicBezTo>
                        <a:pt x="55" y="158"/>
                        <a:pt x="53" y="157"/>
                        <a:pt x="52" y="157"/>
                      </a:cubicBezTo>
                      <a:cubicBezTo>
                        <a:pt x="50" y="157"/>
                        <a:pt x="48" y="158"/>
                        <a:pt x="47" y="159"/>
                      </a:cubicBezTo>
                      <a:cubicBezTo>
                        <a:pt x="26" y="179"/>
                        <a:pt x="26" y="179"/>
                        <a:pt x="26" y="179"/>
                      </a:cubicBezTo>
                      <a:cubicBezTo>
                        <a:pt x="13" y="166"/>
                        <a:pt x="13" y="166"/>
                        <a:pt x="13" y="166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16" y="14"/>
                        <a:pt x="116" y="14"/>
                        <a:pt x="116" y="14"/>
                      </a:cubicBezTo>
                      <a:cubicBezTo>
                        <a:pt x="116" y="35"/>
                        <a:pt x="116" y="35"/>
                        <a:pt x="116" y="35"/>
                      </a:cubicBezTo>
                      <a:cubicBezTo>
                        <a:pt x="116" y="38"/>
                        <a:pt x="118" y="39"/>
                        <a:pt x="120" y="39"/>
                      </a:cubicBezTo>
                      <a:cubicBezTo>
                        <a:pt x="142" y="39"/>
                        <a:pt x="142" y="39"/>
                        <a:pt x="142" y="39"/>
                      </a:cubicBezTo>
                      <a:cubicBezTo>
                        <a:pt x="142" y="168"/>
                        <a:pt x="142" y="168"/>
                        <a:pt x="142" y="168"/>
                      </a:cubicBezTo>
                      <a:lnTo>
                        <a:pt x="129" y="18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14" name="组合 13"/>
            <p:cNvGrpSpPr/>
            <p:nvPr/>
          </p:nvGrpSpPr>
          <p:grpSpPr>
            <a:xfrm>
              <a:off x="5452593" y="876860"/>
              <a:ext cx="1271434" cy="1271434"/>
              <a:chOff x="5147792" y="1881950"/>
              <a:chExt cx="1007417" cy="1007417"/>
            </a:xfrm>
          </p:grpSpPr>
          <p:sp>
            <p:nvSpPr>
              <p:cNvPr id="22" name="任意多边形 21"/>
              <p:cNvSpPr/>
              <p:nvPr/>
            </p:nvSpPr>
            <p:spPr>
              <a:xfrm>
                <a:off x="5147792" y="1881950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23" name="Group 19"/>
              <p:cNvGrpSpPr>
                <a:grpSpLocks noChangeAspect="1"/>
              </p:cNvGrpSpPr>
              <p:nvPr/>
            </p:nvGrpSpPr>
            <p:grpSpPr bwMode="auto">
              <a:xfrm>
                <a:off x="5388004" y="2104695"/>
                <a:ext cx="532201" cy="524391"/>
                <a:chOff x="3869" y="1065"/>
                <a:chExt cx="477" cy="470"/>
              </a:xfrm>
              <a:solidFill>
                <a:schemeClr val="bg1"/>
              </a:solidFill>
            </p:grpSpPr>
            <p:sp>
              <p:nvSpPr>
                <p:cNvPr id="24" name="Freeform 20"/>
                <p:cNvSpPr/>
                <p:nvPr/>
              </p:nvSpPr>
              <p:spPr bwMode="auto">
                <a:xfrm>
                  <a:off x="3936" y="1411"/>
                  <a:ext cx="211" cy="14"/>
                </a:xfrm>
                <a:custGeom>
                  <a:avLst/>
                  <a:gdLst>
                    <a:gd name="T0" fmla="*/ 86 w 88"/>
                    <a:gd name="T1" fmla="*/ 0 h 6"/>
                    <a:gd name="T2" fmla="*/ 3 w 88"/>
                    <a:gd name="T3" fmla="*/ 0 h 6"/>
                    <a:gd name="T4" fmla="*/ 0 w 88"/>
                    <a:gd name="T5" fmla="*/ 3 h 6"/>
                    <a:gd name="T6" fmla="*/ 3 w 88"/>
                    <a:gd name="T7" fmla="*/ 6 h 6"/>
                    <a:gd name="T8" fmla="*/ 86 w 88"/>
                    <a:gd name="T9" fmla="*/ 6 h 6"/>
                    <a:gd name="T10" fmla="*/ 88 w 88"/>
                    <a:gd name="T11" fmla="*/ 3 h 6"/>
                    <a:gd name="T12" fmla="*/ 86 w 88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6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7" y="6"/>
                        <a:pt x="88" y="5"/>
                        <a:pt x="88" y="3"/>
                      </a:cubicBezTo>
                      <a:cubicBezTo>
                        <a:pt x="88" y="2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5" name="Freeform 21"/>
                <p:cNvSpPr/>
                <p:nvPr/>
              </p:nvSpPr>
              <p:spPr bwMode="auto">
                <a:xfrm>
                  <a:off x="3936" y="1358"/>
                  <a:ext cx="211" cy="12"/>
                </a:xfrm>
                <a:custGeom>
                  <a:avLst/>
                  <a:gdLst>
                    <a:gd name="T0" fmla="*/ 86 w 88"/>
                    <a:gd name="T1" fmla="*/ 0 h 5"/>
                    <a:gd name="T2" fmla="*/ 3 w 88"/>
                    <a:gd name="T3" fmla="*/ 0 h 5"/>
                    <a:gd name="T4" fmla="*/ 0 w 88"/>
                    <a:gd name="T5" fmla="*/ 3 h 5"/>
                    <a:gd name="T6" fmla="*/ 3 w 88"/>
                    <a:gd name="T7" fmla="*/ 5 h 5"/>
                    <a:gd name="T8" fmla="*/ 86 w 88"/>
                    <a:gd name="T9" fmla="*/ 5 h 5"/>
                    <a:gd name="T10" fmla="*/ 88 w 88"/>
                    <a:gd name="T11" fmla="*/ 3 h 5"/>
                    <a:gd name="T12" fmla="*/ 86 w 88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5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6" y="5"/>
                        <a:pt x="86" y="5"/>
                        <a:pt x="86" y="5"/>
                      </a:cubicBezTo>
                      <a:cubicBezTo>
                        <a:pt x="87" y="5"/>
                        <a:pt x="88" y="4"/>
                        <a:pt x="88" y="3"/>
                      </a:cubicBezTo>
                      <a:cubicBezTo>
                        <a:pt x="88" y="1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6" name="Freeform 22"/>
                <p:cNvSpPr/>
                <p:nvPr/>
              </p:nvSpPr>
              <p:spPr bwMode="auto">
                <a:xfrm>
                  <a:off x="3936" y="1303"/>
                  <a:ext cx="211" cy="14"/>
                </a:xfrm>
                <a:custGeom>
                  <a:avLst/>
                  <a:gdLst>
                    <a:gd name="T0" fmla="*/ 86 w 88"/>
                    <a:gd name="T1" fmla="*/ 0 h 6"/>
                    <a:gd name="T2" fmla="*/ 3 w 88"/>
                    <a:gd name="T3" fmla="*/ 0 h 6"/>
                    <a:gd name="T4" fmla="*/ 0 w 88"/>
                    <a:gd name="T5" fmla="*/ 3 h 6"/>
                    <a:gd name="T6" fmla="*/ 3 w 88"/>
                    <a:gd name="T7" fmla="*/ 6 h 6"/>
                    <a:gd name="T8" fmla="*/ 86 w 88"/>
                    <a:gd name="T9" fmla="*/ 6 h 6"/>
                    <a:gd name="T10" fmla="*/ 88 w 88"/>
                    <a:gd name="T11" fmla="*/ 3 h 6"/>
                    <a:gd name="T12" fmla="*/ 86 w 88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6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6"/>
                        <a:pt x="3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7" y="6"/>
                        <a:pt x="88" y="4"/>
                        <a:pt x="88" y="3"/>
                      </a:cubicBezTo>
                      <a:cubicBezTo>
                        <a:pt x="88" y="1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7" name="Freeform 23"/>
                <p:cNvSpPr/>
                <p:nvPr/>
              </p:nvSpPr>
              <p:spPr bwMode="auto">
                <a:xfrm>
                  <a:off x="3936" y="1250"/>
                  <a:ext cx="103" cy="14"/>
                </a:xfrm>
                <a:custGeom>
                  <a:avLst/>
                  <a:gdLst>
                    <a:gd name="T0" fmla="*/ 3 w 43"/>
                    <a:gd name="T1" fmla="*/ 6 h 6"/>
                    <a:gd name="T2" fmla="*/ 41 w 43"/>
                    <a:gd name="T3" fmla="*/ 6 h 6"/>
                    <a:gd name="T4" fmla="*/ 43 w 43"/>
                    <a:gd name="T5" fmla="*/ 3 h 6"/>
                    <a:gd name="T6" fmla="*/ 41 w 43"/>
                    <a:gd name="T7" fmla="*/ 0 h 6"/>
                    <a:gd name="T8" fmla="*/ 3 w 43"/>
                    <a:gd name="T9" fmla="*/ 0 h 6"/>
                    <a:gd name="T10" fmla="*/ 0 w 43"/>
                    <a:gd name="T11" fmla="*/ 3 h 6"/>
                    <a:gd name="T12" fmla="*/ 3 w 43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3" h="6">
                      <a:moveTo>
                        <a:pt x="3" y="6"/>
                      </a:moveTo>
                      <a:cubicBezTo>
                        <a:pt x="41" y="6"/>
                        <a:pt x="41" y="6"/>
                        <a:pt x="41" y="6"/>
                      </a:cubicBezTo>
                      <a:cubicBezTo>
                        <a:pt x="42" y="6"/>
                        <a:pt x="43" y="4"/>
                        <a:pt x="43" y="3"/>
                      </a:cubicBezTo>
                      <a:cubicBezTo>
                        <a:pt x="43" y="1"/>
                        <a:pt x="42" y="0"/>
                        <a:pt x="4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6"/>
                        <a:pt x="3" y="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8" name="Freeform 24"/>
                <p:cNvSpPr>
                  <a:spLocks noEditPoints="1"/>
                </p:cNvSpPr>
                <p:nvPr/>
              </p:nvSpPr>
              <p:spPr bwMode="auto">
                <a:xfrm>
                  <a:off x="3869" y="1065"/>
                  <a:ext cx="345" cy="470"/>
                </a:xfrm>
                <a:custGeom>
                  <a:avLst/>
                  <a:gdLst>
                    <a:gd name="T0" fmla="*/ 116 w 144"/>
                    <a:gd name="T1" fmla="*/ 2 h 196"/>
                    <a:gd name="T2" fmla="*/ 111 w 144"/>
                    <a:gd name="T3" fmla="*/ 0 h 196"/>
                    <a:gd name="T4" fmla="*/ 7 w 144"/>
                    <a:gd name="T5" fmla="*/ 0 h 196"/>
                    <a:gd name="T6" fmla="*/ 0 w 144"/>
                    <a:gd name="T7" fmla="*/ 7 h 196"/>
                    <a:gd name="T8" fmla="*/ 0 w 144"/>
                    <a:gd name="T9" fmla="*/ 189 h 196"/>
                    <a:gd name="T10" fmla="*/ 7 w 144"/>
                    <a:gd name="T11" fmla="*/ 196 h 196"/>
                    <a:gd name="T12" fmla="*/ 138 w 144"/>
                    <a:gd name="T13" fmla="*/ 196 h 196"/>
                    <a:gd name="T14" fmla="*/ 144 w 144"/>
                    <a:gd name="T15" fmla="*/ 189 h 196"/>
                    <a:gd name="T16" fmla="*/ 144 w 144"/>
                    <a:gd name="T17" fmla="*/ 33 h 196"/>
                    <a:gd name="T18" fmla="*/ 142 w 144"/>
                    <a:gd name="T19" fmla="*/ 28 h 196"/>
                    <a:gd name="T20" fmla="*/ 116 w 144"/>
                    <a:gd name="T21" fmla="*/ 2 h 196"/>
                    <a:gd name="T22" fmla="*/ 13 w 144"/>
                    <a:gd name="T23" fmla="*/ 182 h 196"/>
                    <a:gd name="T24" fmla="*/ 13 w 144"/>
                    <a:gd name="T25" fmla="*/ 13 h 196"/>
                    <a:gd name="T26" fmla="*/ 104 w 144"/>
                    <a:gd name="T27" fmla="*/ 13 h 196"/>
                    <a:gd name="T28" fmla="*/ 104 w 144"/>
                    <a:gd name="T29" fmla="*/ 36 h 196"/>
                    <a:gd name="T30" fmla="*/ 108 w 144"/>
                    <a:gd name="T31" fmla="*/ 40 h 196"/>
                    <a:gd name="T32" fmla="*/ 131 w 144"/>
                    <a:gd name="T33" fmla="*/ 40 h 196"/>
                    <a:gd name="T34" fmla="*/ 131 w 144"/>
                    <a:gd name="T35" fmla="*/ 182 h 196"/>
                    <a:gd name="T36" fmla="*/ 13 w 144"/>
                    <a:gd name="T37" fmla="*/ 182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4" h="196">
                      <a:moveTo>
                        <a:pt x="116" y="2"/>
                      </a:moveTo>
                      <a:cubicBezTo>
                        <a:pt x="115" y="1"/>
                        <a:pt x="113" y="0"/>
                        <a:pt x="111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89"/>
                        <a:pt x="0" y="189"/>
                        <a:pt x="0" y="189"/>
                      </a:cubicBezTo>
                      <a:cubicBezTo>
                        <a:pt x="0" y="193"/>
                        <a:pt x="3" y="196"/>
                        <a:pt x="7" y="196"/>
                      </a:cubicBezTo>
                      <a:cubicBezTo>
                        <a:pt x="138" y="196"/>
                        <a:pt x="138" y="196"/>
                        <a:pt x="138" y="196"/>
                      </a:cubicBezTo>
                      <a:cubicBezTo>
                        <a:pt x="141" y="196"/>
                        <a:pt x="144" y="193"/>
                        <a:pt x="144" y="189"/>
                      </a:cubicBezTo>
                      <a:cubicBezTo>
                        <a:pt x="144" y="33"/>
                        <a:pt x="144" y="33"/>
                        <a:pt x="144" y="33"/>
                      </a:cubicBezTo>
                      <a:cubicBezTo>
                        <a:pt x="144" y="31"/>
                        <a:pt x="144" y="29"/>
                        <a:pt x="142" y="28"/>
                      </a:cubicBezTo>
                      <a:lnTo>
                        <a:pt x="116" y="2"/>
                      </a:lnTo>
                      <a:close/>
                      <a:moveTo>
                        <a:pt x="13" y="182"/>
                      </a:move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04" y="13"/>
                        <a:pt x="104" y="13"/>
                        <a:pt x="104" y="13"/>
                      </a:cubicBezTo>
                      <a:cubicBezTo>
                        <a:pt x="104" y="36"/>
                        <a:pt x="104" y="36"/>
                        <a:pt x="104" y="36"/>
                      </a:cubicBezTo>
                      <a:cubicBezTo>
                        <a:pt x="104" y="38"/>
                        <a:pt x="106" y="40"/>
                        <a:pt x="108" y="40"/>
                      </a:cubicBezTo>
                      <a:cubicBezTo>
                        <a:pt x="131" y="40"/>
                        <a:pt x="131" y="40"/>
                        <a:pt x="131" y="40"/>
                      </a:cubicBezTo>
                      <a:cubicBezTo>
                        <a:pt x="131" y="182"/>
                        <a:pt x="131" y="182"/>
                        <a:pt x="131" y="182"/>
                      </a:cubicBezTo>
                      <a:lnTo>
                        <a:pt x="13" y="1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9" name="Freeform 25"/>
                <p:cNvSpPr>
                  <a:spLocks noEditPoints="1"/>
                </p:cNvSpPr>
                <p:nvPr/>
              </p:nvSpPr>
              <p:spPr bwMode="auto">
                <a:xfrm>
                  <a:off x="4252" y="1087"/>
                  <a:ext cx="94" cy="444"/>
                </a:xfrm>
                <a:custGeom>
                  <a:avLst/>
                  <a:gdLst>
                    <a:gd name="T0" fmla="*/ 35 w 39"/>
                    <a:gd name="T1" fmla="*/ 0 h 185"/>
                    <a:gd name="T2" fmla="*/ 4 w 39"/>
                    <a:gd name="T3" fmla="*/ 0 h 185"/>
                    <a:gd name="T4" fmla="*/ 0 w 39"/>
                    <a:gd name="T5" fmla="*/ 4 h 185"/>
                    <a:gd name="T6" fmla="*/ 0 w 39"/>
                    <a:gd name="T7" fmla="*/ 144 h 185"/>
                    <a:gd name="T8" fmla="*/ 0 w 39"/>
                    <a:gd name="T9" fmla="*/ 146 h 185"/>
                    <a:gd name="T10" fmla="*/ 16 w 39"/>
                    <a:gd name="T11" fmla="*/ 182 h 185"/>
                    <a:gd name="T12" fmla="*/ 20 w 39"/>
                    <a:gd name="T13" fmla="*/ 185 h 185"/>
                    <a:gd name="T14" fmla="*/ 23 w 39"/>
                    <a:gd name="T15" fmla="*/ 182 h 185"/>
                    <a:gd name="T16" fmla="*/ 39 w 39"/>
                    <a:gd name="T17" fmla="*/ 146 h 185"/>
                    <a:gd name="T18" fmla="*/ 39 w 39"/>
                    <a:gd name="T19" fmla="*/ 144 h 185"/>
                    <a:gd name="T20" fmla="*/ 39 w 39"/>
                    <a:gd name="T21" fmla="*/ 4 h 185"/>
                    <a:gd name="T22" fmla="*/ 35 w 39"/>
                    <a:gd name="T23" fmla="*/ 0 h 185"/>
                    <a:gd name="T24" fmla="*/ 31 w 39"/>
                    <a:gd name="T25" fmla="*/ 143 h 185"/>
                    <a:gd name="T26" fmla="*/ 25 w 39"/>
                    <a:gd name="T27" fmla="*/ 157 h 185"/>
                    <a:gd name="T28" fmla="*/ 14 w 39"/>
                    <a:gd name="T29" fmla="*/ 157 h 185"/>
                    <a:gd name="T30" fmla="*/ 8 w 39"/>
                    <a:gd name="T31" fmla="*/ 143 h 185"/>
                    <a:gd name="T32" fmla="*/ 8 w 39"/>
                    <a:gd name="T33" fmla="*/ 8 h 185"/>
                    <a:gd name="T34" fmla="*/ 18 w 39"/>
                    <a:gd name="T35" fmla="*/ 8 h 185"/>
                    <a:gd name="T36" fmla="*/ 18 w 39"/>
                    <a:gd name="T37" fmla="*/ 8 h 185"/>
                    <a:gd name="T38" fmla="*/ 18 w 39"/>
                    <a:gd name="T39" fmla="*/ 137 h 185"/>
                    <a:gd name="T40" fmla="*/ 21 w 39"/>
                    <a:gd name="T41" fmla="*/ 139 h 185"/>
                    <a:gd name="T42" fmla="*/ 24 w 39"/>
                    <a:gd name="T43" fmla="*/ 137 h 185"/>
                    <a:gd name="T44" fmla="*/ 24 w 39"/>
                    <a:gd name="T45" fmla="*/ 8 h 185"/>
                    <a:gd name="T46" fmla="*/ 24 w 39"/>
                    <a:gd name="T47" fmla="*/ 8 h 185"/>
                    <a:gd name="T48" fmla="*/ 31 w 39"/>
                    <a:gd name="T49" fmla="*/ 8 h 185"/>
                    <a:gd name="T50" fmla="*/ 31 w 39"/>
                    <a:gd name="T51" fmla="*/ 143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9" h="185">
                      <a:moveTo>
                        <a:pt x="35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45"/>
                        <a:pt x="0" y="145"/>
                        <a:pt x="0" y="146"/>
                      </a:cubicBezTo>
                      <a:cubicBezTo>
                        <a:pt x="16" y="182"/>
                        <a:pt x="16" y="182"/>
                        <a:pt x="16" y="182"/>
                      </a:cubicBezTo>
                      <a:cubicBezTo>
                        <a:pt x="17" y="184"/>
                        <a:pt x="18" y="185"/>
                        <a:pt x="20" y="185"/>
                      </a:cubicBezTo>
                      <a:cubicBezTo>
                        <a:pt x="21" y="185"/>
                        <a:pt x="23" y="184"/>
                        <a:pt x="23" y="182"/>
                      </a:cubicBezTo>
                      <a:cubicBezTo>
                        <a:pt x="39" y="146"/>
                        <a:pt x="39" y="146"/>
                        <a:pt x="39" y="146"/>
                      </a:cubicBezTo>
                      <a:cubicBezTo>
                        <a:pt x="39" y="145"/>
                        <a:pt x="39" y="145"/>
                        <a:pt x="39" y="144"/>
                      </a:cubicBezTo>
                      <a:cubicBezTo>
                        <a:pt x="39" y="4"/>
                        <a:pt x="39" y="4"/>
                        <a:pt x="39" y="4"/>
                      </a:cubicBezTo>
                      <a:cubicBezTo>
                        <a:pt x="39" y="1"/>
                        <a:pt x="37" y="0"/>
                        <a:pt x="35" y="0"/>
                      </a:cubicBezTo>
                      <a:close/>
                      <a:moveTo>
                        <a:pt x="31" y="143"/>
                      </a:moveTo>
                      <a:cubicBezTo>
                        <a:pt x="25" y="157"/>
                        <a:pt x="25" y="157"/>
                        <a:pt x="25" y="157"/>
                      </a:cubicBezTo>
                      <a:cubicBezTo>
                        <a:pt x="14" y="157"/>
                        <a:pt x="14" y="157"/>
                        <a:pt x="14" y="157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8" y="137"/>
                        <a:pt x="18" y="137"/>
                        <a:pt x="18" y="137"/>
                      </a:cubicBezTo>
                      <a:cubicBezTo>
                        <a:pt x="18" y="138"/>
                        <a:pt x="19" y="139"/>
                        <a:pt x="21" y="139"/>
                      </a:cubicBezTo>
                      <a:cubicBezTo>
                        <a:pt x="22" y="139"/>
                        <a:pt x="24" y="138"/>
                        <a:pt x="24" y="13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31" y="8"/>
                        <a:pt x="31" y="8"/>
                        <a:pt x="31" y="8"/>
                      </a:cubicBezTo>
                      <a:lnTo>
                        <a:pt x="31" y="14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7379080" y="2803349"/>
              <a:ext cx="1271434" cy="1271434"/>
              <a:chOff x="6674239" y="3408398"/>
              <a:chExt cx="1007417" cy="1007417"/>
            </a:xfrm>
          </p:grpSpPr>
          <p:sp>
            <p:nvSpPr>
              <p:cNvPr id="16" name="任意多边形 15"/>
              <p:cNvSpPr/>
              <p:nvPr/>
            </p:nvSpPr>
            <p:spPr>
              <a:xfrm>
                <a:off x="6674239" y="3408398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65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7" name="Group 28"/>
              <p:cNvGrpSpPr>
                <a:grpSpLocks noChangeAspect="1"/>
              </p:cNvGrpSpPr>
              <p:nvPr/>
            </p:nvGrpSpPr>
            <p:grpSpPr bwMode="auto">
              <a:xfrm>
                <a:off x="6969306" y="3649352"/>
                <a:ext cx="417282" cy="525508"/>
                <a:chOff x="4401" y="2266"/>
                <a:chExt cx="374" cy="471"/>
              </a:xfrm>
              <a:solidFill>
                <a:schemeClr val="bg1"/>
              </a:solidFill>
            </p:grpSpPr>
            <p:sp>
              <p:nvSpPr>
                <p:cNvPr id="18" name="Freeform 29"/>
                <p:cNvSpPr/>
                <p:nvPr/>
              </p:nvSpPr>
              <p:spPr bwMode="auto">
                <a:xfrm>
                  <a:off x="4538" y="2390"/>
                  <a:ext cx="85" cy="108"/>
                </a:xfrm>
                <a:custGeom>
                  <a:avLst/>
                  <a:gdLst>
                    <a:gd name="T0" fmla="*/ 0 w 35"/>
                    <a:gd name="T1" fmla="*/ 26 h 45"/>
                    <a:gd name="T2" fmla="*/ 3 w 35"/>
                    <a:gd name="T3" fmla="*/ 29 h 45"/>
                    <a:gd name="T4" fmla="*/ 3 w 35"/>
                    <a:gd name="T5" fmla="*/ 29 h 45"/>
                    <a:gd name="T6" fmla="*/ 17 w 35"/>
                    <a:gd name="T7" fmla="*/ 45 h 45"/>
                    <a:gd name="T8" fmla="*/ 32 w 35"/>
                    <a:gd name="T9" fmla="*/ 29 h 45"/>
                    <a:gd name="T10" fmla="*/ 32 w 35"/>
                    <a:gd name="T11" fmla="*/ 29 h 45"/>
                    <a:gd name="T12" fmla="*/ 35 w 35"/>
                    <a:gd name="T13" fmla="*/ 26 h 45"/>
                    <a:gd name="T14" fmla="*/ 33 w 35"/>
                    <a:gd name="T15" fmla="*/ 23 h 45"/>
                    <a:gd name="T16" fmla="*/ 34 w 35"/>
                    <a:gd name="T17" fmla="*/ 17 h 45"/>
                    <a:gd name="T18" fmla="*/ 17 w 35"/>
                    <a:gd name="T19" fmla="*/ 0 h 45"/>
                    <a:gd name="T20" fmla="*/ 1 w 35"/>
                    <a:gd name="T21" fmla="*/ 17 h 45"/>
                    <a:gd name="T22" fmla="*/ 2 w 35"/>
                    <a:gd name="T23" fmla="*/ 23 h 45"/>
                    <a:gd name="T24" fmla="*/ 0 w 35"/>
                    <a:gd name="T25" fmla="*/ 26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5" h="45">
                      <a:moveTo>
                        <a:pt x="0" y="26"/>
                      </a:moveTo>
                      <a:cubicBezTo>
                        <a:pt x="0" y="28"/>
                        <a:pt x="1" y="29"/>
                        <a:pt x="3" y="29"/>
                      </a:cubicBezTo>
                      <a:cubicBezTo>
                        <a:pt x="3" y="29"/>
                        <a:pt x="3" y="29"/>
                        <a:pt x="3" y="29"/>
                      </a:cubicBezTo>
                      <a:cubicBezTo>
                        <a:pt x="3" y="37"/>
                        <a:pt x="10" y="45"/>
                        <a:pt x="17" y="45"/>
                      </a:cubicBezTo>
                      <a:cubicBezTo>
                        <a:pt x="25" y="45"/>
                        <a:pt x="31" y="37"/>
                        <a:pt x="32" y="29"/>
                      </a:cubicBezTo>
                      <a:cubicBezTo>
                        <a:pt x="32" y="29"/>
                        <a:pt x="32" y="29"/>
                        <a:pt x="32" y="29"/>
                      </a:cubicBezTo>
                      <a:cubicBezTo>
                        <a:pt x="33" y="29"/>
                        <a:pt x="35" y="28"/>
                        <a:pt x="35" y="26"/>
                      </a:cubicBezTo>
                      <a:cubicBezTo>
                        <a:pt x="35" y="25"/>
                        <a:pt x="34" y="24"/>
                        <a:pt x="33" y="23"/>
                      </a:cubicBezTo>
                      <a:cubicBezTo>
                        <a:pt x="34" y="21"/>
                        <a:pt x="34" y="19"/>
                        <a:pt x="34" y="17"/>
                      </a:cubicBezTo>
                      <a:cubicBezTo>
                        <a:pt x="34" y="8"/>
                        <a:pt x="26" y="0"/>
                        <a:pt x="17" y="0"/>
                      </a:cubicBezTo>
                      <a:cubicBezTo>
                        <a:pt x="8" y="0"/>
                        <a:pt x="1" y="8"/>
                        <a:pt x="1" y="17"/>
                      </a:cubicBezTo>
                      <a:cubicBezTo>
                        <a:pt x="1" y="19"/>
                        <a:pt x="1" y="21"/>
                        <a:pt x="2" y="23"/>
                      </a:cubicBezTo>
                      <a:cubicBezTo>
                        <a:pt x="1" y="24"/>
                        <a:pt x="0" y="25"/>
                        <a:pt x="0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9" name="Freeform 30"/>
                <p:cNvSpPr/>
                <p:nvPr/>
              </p:nvSpPr>
              <p:spPr bwMode="auto">
                <a:xfrm>
                  <a:off x="4490" y="2512"/>
                  <a:ext cx="178" cy="53"/>
                </a:xfrm>
                <a:custGeom>
                  <a:avLst/>
                  <a:gdLst>
                    <a:gd name="T0" fmla="*/ 2 w 74"/>
                    <a:gd name="T1" fmla="*/ 22 h 22"/>
                    <a:gd name="T2" fmla="*/ 73 w 74"/>
                    <a:gd name="T3" fmla="*/ 22 h 22"/>
                    <a:gd name="T4" fmla="*/ 74 w 74"/>
                    <a:gd name="T5" fmla="*/ 21 h 22"/>
                    <a:gd name="T6" fmla="*/ 74 w 74"/>
                    <a:gd name="T7" fmla="*/ 15 h 22"/>
                    <a:gd name="T8" fmla="*/ 74 w 74"/>
                    <a:gd name="T9" fmla="*/ 14 h 22"/>
                    <a:gd name="T10" fmla="*/ 50 w 74"/>
                    <a:gd name="T11" fmla="*/ 0 h 22"/>
                    <a:gd name="T12" fmla="*/ 49 w 74"/>
                    <a:gd name="T13" fmla="*/ 0 h 22"/>
                    <a:gd name="T14" fmla="*/ 48 w 74"/>
                    <a:gd name="T15" fmla="*/ 0 h 22"/>
                    <a:gd name="T16" fmla="*/ 47 w 74"/>
                    <a:gd name="T17" fmla="*/ 0 h 22"/>
                    <a:gd name="T18" fmla="*/ 37 w 74"/>
                    <a:gd name="T19" fmla="*/ 3 h 22"/>
                    <a:gd name="T20" fmla="*/ 27 w 74"/>
                    <a:gd name="T21" fmla="*/ 0 h 22"/>
                    <a:gd name="T22" fmla="*/ 26 w 74"/>
                    <a:gd name="T23" fmla="*/ 0 h 22"/>
                    <a:gd name="T24" fmla="*/ 26 w 74"/>
                    <a:gd name="T25" fmla="*/ 0 h 22"/>
                    <a:gd name="T26" fmla="*/ 25 w 74"/>
                    <a:gd name="T27" fmla="*/ 0 h 22"/>
                    <a:gd name="T28" fmla="*/ 1 w 74"/>
                    <a:gd name="T29" fmla="*/ 14 h 22"/>
                    <a:gd name="T30" fmla="*/ 0 w 74"/>
                    <a:gd name="T31" fmla="*/ 15 h 22"/>
                    <a:gd name="T32" fmla="*/ 0 w 74"/>
                    <a:gd name="T33" fmla="*/ 21 h 22"/>
                    <a:gd name="T34" fmla="*/ 2 w 74"/>
                    <a:gd name="T35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4" h="22">
                      <a:moveTo>
                        <a:pt x="2" y="22"/>
                      </a:moveTo>
                      <a:cubicBezTo>
                        <a:pt x="73" y="22"/>
                        <a:pt x="73" y="22"/>
                        <a:pt x="73" y="22"/>
                      </a:cubicBezTo>
                      <a:cubicBezTo>
                        <a:pt x="73" y="22"/>
                        <a:pt x="74" y="21"/>
                        <a:pt x="74" y="21"/>
                      </a:cubicBezTo>
                      <a:cubicBezTo>
                        <a:pt x="74" y="15"/>
                        <a:pt x="74" y="15"/>
                        <a:pt x="74" y="15"/>
                      </a:cubicBezTo>
                      <a:cubicBezTo>
                        <a:pt x="74" y="15"/>
                        <a:pt x="74" y="14"/>
                        <a:pt x="74" y="14"/>
                      </a:cubicBezTo>
                      <a:cubicBezTo>
                        <a:pt x="67" y="7"/>
                        <a:pt x="59" y="3"/>
                        <a:pt x="50" y="0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8" y="0"/>
                        <a:pt x="48" y="0"/>
                        <a:pt x="47" y="0"/>
                      </a:cubicBezTo>
                      <a:cubicBezTo>
                        <a:pt x="45" y="2"/>
                        <a:pt x="41" y="3"/>
                        <a:pt x="37" y="3"/>
                      </a:cubicBezTo>
                      <a:cubicBezTo>
                        <a:pt x="34" y="3"/>
                        <a:pt x="30" y="2"/>
                        <a:pt x="27" y="0"/>
                      </a:cubicBezTo>
                      <a:cubicBezTo>
                        <a:pt x="27" y="0"/>
                        <a:pt x="27" y="0"/>
                        <a:pt x="2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6" y="0"/>
                        <a:pt x="26" y="0"/>
                        <a:pt x="25" y="0"/>
                      </a:cubicBezTo>
                      <a:cubicBezTo>
                        <a:pt x="16" y="2"/>
                        <a:pt x="8" y="7"/>
                        <a:pt x="1" y="14"/>
                      </a:cubicBezTo>
                      <a:cubicBezTo>
                        <a:pt x="1" y="14"/>
                        <a:pt x="0" y="15"/>
                        <a:pt x="0" y="15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21"/>
                        <a:pt x="1" y="22"/>
                        <a:pt x="2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0" name="Freeform 31"/>
                <p:cNvSpPr/>
                <p:nvPr/>
              </p:nvSpPr>
              <p:spPr bwMode="auto">
                <a:xfrm>
                  <a:off x="4476" y="2613"/>
                  <a:ext cx="207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2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2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2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1" name="Freeform 32"/>
                <p:cNvSpPr>
                  <a:spLocks noEditPoints="1"/>
                </p:cNvSpPr>
                <p:nvPr/>
              </p:nvSpPr>
              <p:spPr bwMode="auto">
                <a:xfrm>
                  <a:off x="4401" y="2266"/>
                  <a:ext cx="374" cy="471"/>
                </a:xfrm>
                <a:custGeom>
                  <a:avLst/>
                  <a:gdLst>
                    <a:gd name="T0" fmla="*/ 153 w 155"/>
                    <a:gd name="T1" fmla="*/ 31 h 197"/>
                    <a:gd name="T2" fmla="*/ 124 w 155"/>
                    <a:gd name="T3" fmla="*/ 2 h 197"/>
                    <a:gd name="T4" fmla="*/ 120 w 155"/>
                    <a:gd name="T5" fmla="*/ 0 h 197"/>
                    <a:gd name="T6" fmla="*/ 6 w 155"/>
                    <a:gd name="T7" fmla="*/ 0 h 197"/>
                    <a:gd name="T8" fmla="*/ 0 w 155"/>
                    <a:gd name="T9" fmla="*/ 7 h 197"/>
                    <a:gd name="T10" fmla="*/ 0 w 155"/>
                    <a:gd name="T11" fmla="*/ 190 h 197"/>
                    <a:gd name="T12" fmla="*/ 6 w 155"/>
                    <a:gd name="T13" fmla="*/ 197 h 197"/>
                    <a:gd name="T14" fmla="*/ 148 w 155"/>
                    <a:gd name="T15" fmla="*/ 197 h 197"/>
                    <a:gd name="T16" fmla="*/ 155 w 155"/>
                    <a:gd name="T17" fmla="*/ 190 h 197"/>
                    <a:gd name="T18" fmla="*/ 155 w 155"/>
                    <a:gd name="T19" fmla="*/ 35 h 197"/>
                    <a:gd name="T20" fmla="*/ 153 w 155"/>
                    <a:gd name="T21" fmla="*/ 31 h 197"/>
                    <a:gd name="T22" fmla="*/ 13 w 155"/>
                    <a:gd name="T23" fmla="*/ 183 h 197"/>
                    <a:gd name="T24" fmla="*/ 13 w 155"/>
                    <a:gd name="T25" fmla="*/ 14 h 197"/>
                    <a:gd name="T26" fmla="*/ 116 w 155"/>
                    <a:gd name="T27" fmla="*/ 14 h 197"/>
                    <a:gd name="T28" fmla="*/ 116 w 155"/>
                    <a:gd name="T29" fmla="*/ 35 h 197"/>
                    <a:gd name="T30" fmla="*/ 120 w 155"/>
                    <a:gd name="T31" fmla="*/ 39 h 197"/>
                    <a:gd name="T32" fmla="*/ 142 w 155"/>
                    <a:gd name="T33" fmla="*/ 39 h 197"/>
                    <a:gd name="T34" fmla="*/ 142 w 155"/>
                    <a:gd name="T35" fmla="*/ 183 h 197"/>
                    <a:gd name="T36" fmla="*/ 13 w 155"/>
                    <a:gd name="T37" fmla="*/ 183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55" h="197">
                      <a:moveTo>
                        <a:pt x="153" y="31"/>
                      </a:moveTo>
                      <a:cubicBezTo>
                        <a:pt x="124" y="2"/>
                        <a:pt x="124" y="2"/>
                        <a:pt x="124" y="2"/>
                      </a:cubicBezTo>
                      <a:cubicBezTo>
                        <a:pt x="123" y="1"/>
                        <a:pt x="121" y="0"/>
                        <a:pt x="12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4"/>
                        <a:pt x="3" y="197"/>
                        <a:pt x="6" y="197"/>
                      </a:cubicBezTo>
                      <a:cubicBezTo>
                        <a:pt x="148" y="197"/>
                        <a:pt x="148" y="197"/>
                        <a:pt x="148" y="197"/>
                      </a:cubicBezTo>
                      <a:cubicBezTo>
                        <a:pt x="152" y="197"/>
                        <a:pt x="155" y="194"/>
                        <a:pt x="155" y="190"/>
                      </a:cubicBezTo>
                      <a:cubicBezTo>
                        <a:pt x="155" y="35"/>
                        <a:pt x="155" y="35"/>
                        <a:pt x="155" y="35"/>
                      </a:cubicBezTo>
                      <a:cubicBezTo>
                        <a:pt x="155" y="34"/>
                        <a:pt x="154" y="32"/>
                        <a:pt x="153" y="31"/>
                      </a:cubicBezTo>
                      <a:close/>
                      <a:moveTo>
                        <a:pt x="13" y="183"/>
                      </a:move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16" y="14"/>
                        <a:pt x="116" y="14"/>
                        <a:pt x="116" y="14"/>
                      </a:cubicBezTo>
                      <a:cubicBezTo>
                        <a:pt x="116" y="35"/>
                        <a:pt x="116" y="35"/>
                        <a:pt x="116" y="35"/>
                      </a:cubicBezTo>
                      <a:cubicBezTo>
                        <a:pt x="116" y="38"/>
                        <a:pt x="118" y="39"/>
                        <a:pt x="120" y="39"/>
                      </a:cubicBezTo>
                      <a:cubicBezTo>
                        <a:pt x="142" y="39"/>
                        <a:pt x="142" y="39"/>
                        <a:pt x="142" y="39"/>
                      </a:cubicBezTo>
                      <a:cubicBezTo>
                        <a:pt x="142" y="183"/>
                        <a:pt x="142" y="183"/>
                        <a:pt x="142" y="183"/>
                      </a:cubicBezTo>
                      <a:lnTo>
                        <a:pt x="13" y="18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6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grpSp>
        <p:nvGrpSpPr>
          <p:cNvPr id="4" name="组合 3"/>
          <p:cNvGrpSpPr/>
          <p:nvPr/>
        </p:nvGrpSpPr>
        <p:grpSpPr>
          <a:xfrm>
            <a:off x="5764993" y="1843123"/>
            <a:ext cx="5586883" cy="4050035"/>
            <a:chOff x="5818000" y="1843122"/>
            <a:chExt cx="5586883" cy="4050035"/>
          </a:xfrm>
        </p:grpSpPr>
        <p:sp>
          <p:nvSpPr>
            <p:cNvPr id="2" name="圆角矩形 1"/>
            <p:cNvSpPr/>
            <p:nvPr/>
          </p:nvSpPr>
          <p:spPr>
            <a:xfrm>
              <a:off x="5818000" y="1843122"/>
              <a:ext cx="5586883" cy="4050035"/>
            </a:xfrm>
            <a:prstGeom prst="roundRect">
              <a:avLst>
                <a:gd name="adj" fmla="val 5616"/>
              </a:avLst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6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文本框 31"/>
            <p:cNvSpPr txBox="1"/>
            <p:nvPr/>
          </p:nvSpPr>
          <p:spPr>
            <a:xfrm>
              <a:off x="6089669" y="2026983"/>
              <a:ext cx="5053952" cy="3599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4572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"没有参数"指的是没有可学习的权重。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4572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FraunhoferLayer </a:t>
              </a: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内部只做 </a:t>
              </a: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fft2、fftshift、|·|²、</a:t>
              </a: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归一化、</a:t>
              </a: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log1p——</a:t>
              </a: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全是由物理定律确定的数学运算，没有任何 </a:t>
              </a:r>
              <a:r>
                <a:rPr kumimoji="0" lang="en-US" altLang="zh-CN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nn.Conv2d / nn.Linear / nn.Parameter</a:t>
              </a: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。</a:t>
              </a:r>
              <a:endPara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4572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物理层是完全可微的。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4572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因此 </a:t>
              </a: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loss.backward() 时，梯度会穿过物理层，回传到残差网络，甚至回传到光阑输入——这正是第二阶段闭环训练的基石：逆网络的更新，靠的就是让重建结果穿过这个可微的正向物理层再算 loss。</a:t>
              </a:r>
              <a:endPara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634918" y="237124"/>
            <a:ext cx="417195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有物理层 </a:t>
            </a: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vs 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无物理层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8" name="等腰三角形 4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634917" y="237124"/>
            <a:ext cx="417195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有物理层 </a:t>
            </a: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vs 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无物理层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28" name="等腰三角形 27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969820" y="2592650"/>
            <a:ext cx="2382981" cy="2382981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6161311" y="2088468"/>
            <a:ext cx="0" cy="745277"/>
          </a:xfrm>
          <a:prstGeom prst="line">
            <a:avLst/>
          </a:prstGeom>
          <a:ln w="63500">
            <a:solidFill>
              <a:schemeClr val="accent2"/>
            </a:solidFill>
            <a:head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161311" y="4709331"/>
            <a:ext cx="0" cy="744000"/>
          </a:xfrm>
          <a:prstGeom prst="line">
            <a:avLst/>
          </a:prstGeom>
          <a:ln w="63500">
            <a:solidFill>
              <a:schemeClr val="accent2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直接连接符 25"/>
          <p:cNvCxnSpPr/>
          <p:nvPr/>
        </p:nvCxnSpPr>
        <p:spPr>
          <a:xfrm rot="5400000">
            <a:off x="7493416" y="3412140"/>
            <a:ext cx="0" cy="744000"/>
          </a:xfrm>
          <a:prstGeom prst="line">
            <a:avLst/>
          </a:prstGeom>
          <a:ln w="63500">
            <a:solidFill>
              <a:schemeClr val="accent2"/>
            </a:solidFill>
            <a:head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直接连接符 28"/>
          <p:cNvCxnSpPr/>
          <p:nvPr/>
        </p:nvCxnSpPr>
        <p:spPr>
          <a:xfrm rot="5400000">
            <a:off x="4827232" y="3412140"/>
            <a:ext cx="0" cy="744000"/>
          </a:xfrm>
          <a:prstGeom prst="line">
            <a:avLst/>
          </a:prstGeom>
          <a:ln w="63500">
            <a:solidFill>
              <a:schemeClr val="accent2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TextBox 30"/>
          <p:cNvSpPr txBox="1"/>
          <p:nvPr/>
        </p:nvSpPr>
        <p:spPr>
          <a:xfrm>
            <a:off x="6975078" y="1338561"/>
            <a:ext cx="2834637" cy="2870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不占用</a:t>
            </a: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网络容量</a:t>
            </a:r>
            <a:endParaRPr kumimoji="0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74840" y="1815465"/>
            <a:ext cx="3579495" cy="2736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ts val="1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网络把容量全用在真正需要学的残差上</a:t>
            </a:r>
            <a:endParaRPr kumimoji="0" lang="zh-CN" altLang="en-US" sz="133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42185" y="1423875"/>
            <a:ext cx="6382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61427" y="3537921"/>
            <a:ext cx="6382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51290" y="3209290"/>
            <a:ext cx="1635125" cy="721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不引入与物理不符的自由度</a:t>
            </a:r>
            <a:endParaRPr kumimoji="0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96184" y="4058347"/>
            <a:ext cx="1852568" cy="8242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输出天然满足衍射规律，可解释、可外推。</a:t>
            </a:r>
            <a:endParaRPr kumimoji="0" lang="zh-CN" altLang="en-US" sz="133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42185" y="5564163"/>
            <a:ext cx="6382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80037" y="3537921"/>
            <a:ext cx="63825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6827771" y="1338560"/>
            <a:ext cx="0" cy="11225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33" idx="3"/>
          </p:cNvCxnSpPr>
          <p:nvPr/>
        </p:nvCxnSpPr>
        <p:spPr>
          <a:xfrm>
            <a:off x="6480437" y="1670097"/>
            <a:ext cx="352948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8929717" y="3210013"/>
            <a:ext cx="0" cy="19232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8582382" y="3754820"/>
            <a:ext cx="3529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433817" y="5192163"/>
            <a:ext cx="0" cy="10632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H="1">
            <a:off x="5433818" y="5810384"/>
            <a:ext cx="3529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444645" y="5150192"/>
            <a:ext cx="1852568" cy="2870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固定且精确</a:t>
            </a:r>
            <a:endParaRPr kumimoji="0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080895" y="5612130"/>
            <a:ext cx="3216275" cy="2508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ts val="1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训练更稳，起点就在正确解附近，收敛快</a:t>
            </a:r>
            <a:endParaRPr kumimoji="0" lang="zh-CN" altLang="en-US" sz="133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3392359" y="2589768"/>
            <a:ext cx="0" cy="20068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H="1">
            <a:off x="3392359" y="3754820"/>
            <a:ext cx="3529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391477" y="2561549"/>
            <a:ext cx="1852568" cy="2870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无参数可微</a:t>
            </a:r>
            <a:endParaRPr kumimoji="0" lang="zh-CN" altLang="en-US" sz="1865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391477" y="3057528"/>
            <a:ext cx="1834096" cy="12363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既能当"硬约束"用，又能参与闭环反向传播（第二、三阶段）</a:t>
            </a:r>
            <a:endParaRPr kumimoji="0" lang="zh-CN" altLang="en-US" sz="133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5062761" y="2685591"/>
            <a:ext cx="2197099" cy="2197099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62594" y="3065996"/>
            <a:ext cx="1597436" cy="1404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物理特性</a:t>
            </a:r>
            <a:endParaRPr kumimoji="0" lang="zh-CN" altLang="en-US" sz="4265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7446198" y="-451317"/>
            <a:ext cx="2291737" cy="7199871"/>
          </a:xfrm>
          <a:prstGeom prst="trapezoid">
            <a:avLst>
              <a:gd name="adj" fmla="val 169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梯形 36"/>
          <p:cNvSpPr/>
          <p:nvPr/>
        </p:nvSpPr>
        <p:spPr>
          <a:xfrm rot="5400000">
            <a:off x="1331640" y="636804"/>
            <a:ext cx="2344067" cy="5007345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3729079" y="2556165"/>
            <a:ext cx="1153795" cy="119888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Part</a:t>
            </a: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8797" y="2692405"/>
            <a:ext cx="3230880" cy="829945"/>
          </a:xfrm>
          <a:prstGeom prst="rect">
            <a:avLst/>
          </a:prstGeom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和上届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对比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64768" y="1391626"/>
            <a:ext cx="3102819" cy="31028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184" y="1542950"/>
            <a:ext cx="2800169" cy="280016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1121267" y="2948194"/>
            <a:ext cx="4265949" cy="1568450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PhysicsGuidedModel =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固定可微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FFT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物理层 + 残差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U-Net；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1219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物理层零参数、可微，残差网络输出零初始化，从"纯物理"出发。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32" name="直接连接符 15"/>
          <p:cNvCxnSpPr/>
          <p:nvPr/>
        </p:nvCxnSpPr>
        <p:spPr>
          <a:xfrm flipH="1">
            <a:off x="6062197" y="2319967"/>
            <a:ext cx="8967" cy="3933259"/>
          </a:xfrm>
          <a:prstGeom prst="line">
            <a:avLst/>
          </a:prstGeom>
          <a:ln w="254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4"/>
          <p:cNvGrpSpPr/>
          <p:nvPr/>
        </p:nvGrpSpPr>
        <p:grpSpPr>
          <a:xfrm>
            <a:off x="1065021" y="1355437"/>
            <a:ext cx="10012283" cy="1155355"/>
            <a:chOff x="-470146" y="1321180"/>
            <a:chExt cx="10012283" cy="1155354"/>
          </a:xfrm>
        </p:grpSpPr>
        <p:sp>
          <p:nvSpPr>
            <p:cNvPr id="45" name="椭圆 44"/>
            <p:cNvSpPr/>
            <p:nvPr/>
          </p:nvSpPr>
          <p:spPr>
            <a:xfrm>
              <a:off x="3944942" y="1321180"/>
              <a:ext cx="1182108" cy="1155354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B418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V.S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B418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-470146" y="1583071"/>
              <a:ext cx="4178049" cy="6463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今年（物理引导）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5364088" y="1583071"/>
              <a:ext cx="4178049" cy="667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去年（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pix2pix，GAN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1" name="燕尾形 50"/>
            <p:cNvSpPr/>
            <p:nvPr/>
          </p:nvSpPr>
          <p:spPr>
            <a:xfrm>
              <a:off x="3851920" y="1772816"/>
              <a:ext cx="216024" cy="288032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2" name="燕尾形 51"/>
            <p:cNvSpPr/>
            <p:nvPr/>
          </p:nvSpPr>
          <p:spPr>
            <a:xfrm flipH="1">
              <a:off x="5004048" y="1772816"/>
              <a:ext cx="216024" cy="288032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634918" y="237124"/>
            <a:ext cx="10553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对比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6" name="等腰三角形 35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45885" y="2510790"/>
            <a:ext cx="5085080" cy="39776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1760" y="4775835"/>
            <a:ext cx="6299200" cy="6502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pix2pix </a:t>
            </a:r>
            <a:r>
              <a:rPr lang="zh-CN" altLang="en-US" sz="14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完全靠数据学习"光阑 → 衍射"这个全局算子，没有任何物理先验；</a:t>
            </a:r>
            <a:endParaRPr lang="zh-CN" altLang="en-US" sz="14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今年则把这个已知算子直接固化进网络。</a:t>
            </a:r>
            <a:endParaRPr lang="zh-CN" altLang="en-US" sz="14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634917" y="237124"/>
            <a:ext cx="672338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对比图解读：今年 </a:t>
            </a: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vs 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去年 定性对比</a:t>
            </a:r>
            <a:endParaRPr lang="zh-CN" altLang="en-US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等腰三角形 2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2" name="图片 1" descr="compare_resul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25" y="1103630"/>
            <a:ext cx="6235700" cy="5085715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7008495" y="1481455"/>
          <a:ext cx="4918710" cy="2960370"/>
        </p:xfrm>
        <a:graphic>
          <a:graphicData uri="http://schemas.openxmlformats.org/drawingml/2006/table">
            <a:tbl>
              <a:tblPr/>
              <a:tblGrid>
                <a:gridCol w="1639570"/>
                <a:gridCol w="1639570"/>
                <a:gridCol w="1639570"/>
              </a:tblGrid>
              <a:tr h="268605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1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</a:t>
                      </a:r>
                      <a:endParaRPr lang="zh-CN" altLang="en-US" sz="1400" b="1" i="0">
                        <a:solidFill>
                          <a:srgbClr val="03030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1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400" b="1" i="0">
                        <a:solidFill>
                          <a:srgbClr val="03030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1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400" b="1" i="0">
                        <a:solidFill>
                          <a:srgbClr val="03030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7970"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Aperture</a:t>
                      </a:r>
                      <a:endParaRPr lang="en-US" altLang="zh-CN" sz="1400" b="0" i="0">
                        <a:solidFill>
                          <a:srgbClr val="03030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输入光阑（灰度）</a:t>
                      </a:r>
                      <a:endParaRPr lang="zh-CN" altLang="en-US" sz="14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Ground Truth</a:t>
                      </a:r>
                      <a:endParaRPr lang="en-US" altLang="zh-CN" sz="1400" b="0" i="0">
                        <a:solidFill>
                          <a:srgbClr val="03030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标签（</a:t>
                      </a:r>
                      <a:r>
                        <a:rPr lang="en-US" altLang="zh-CN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log </a:t>
                      </a:r>
                      <a:r>
                        <a:rPr lang="zh-CN" altLang="en-US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压缩衍射图样）</a:t>
                      </a:r>
                      <a:endParaRPr lang="zh-CN" altLang="en-US" sz="14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Physics Layer</a:t>
                      </a:r>
                      <a:endParaRPr lang="en-US" altLang="zh-CN" sz="1400" b="0" i="0">
                        <a:solidFill>
                          <a:srgbClr val="03030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纯物理层输出（无学习）</a:t>
                      </a:r>
                      <a:endParaRPr lang="zh-CN" altLang="en-US" sz="14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7995"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Current (phy+res)</a:t>
                      </a:r>
                      <a:endParaRPr lang="en-US" altLang="zh-CN" sz="1400" b="0" i="0">
                        <a:solidFill>
                          <a:srgbClr val="03030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今年：物理引导模型输出</a:t>
                      </a:r>
                      <a:endParaRPr lang="zh-CN" altLang="en-US" sz="14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630"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Last-year pix2pix</a:t>
                      </a:r>
                      <a:endParaRPr lang="en-US" altLang="zh-CN" sz="1400" b="0" i="0">
                        <a:solidFill>
                          <a:srgbClr val="03030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去年：</a:t>
                      </a:r>
                      <a:r>
                        <a:rPr lang="en-US" altLang="zh-CN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pix2pix </a:t>
                      </a:r>
                      <a:r>
                        <a:rPr lang="zh-CN" altLang="en-US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生成器输出</a:t>
                      </a:r>
                      <a:endParaRPr lang="zh-CN" altLang="en-US" sz="14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|Error| curr vs pix2pix</a:t>
                      </a:r>
                      <a:endParaRPr lang="en-US" altLang="zh-CN" sz="1400" b="0" i="0">
                        <a:solidFill>
                          <a:srgbClr val="03030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误差差图</a:t>
                      </a:r>
                      <a:endParaRPr lang="zh-CN" altLang="en-US" sz="14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998335" y="4745355"/>
            <a:ext cx="4919345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第 6 列读法：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色标以 0 为中心，红 = 今年误差更大，蓝 = 去年误差更大。每行第 6 列下方标注了该样本的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curr L1 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pix2pix L1 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数值。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634917" y="237124"/>
            <a:ext cx="715264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对比图解读：去年 </a:t>
            </a:r>
            <a:r>
              <a:rPr lang="en-US" altLang="zh-CN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pix2pix 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的训练曲线</a:t>
            </a:r>
            <a:endParaRPr lang="zh-CN" altLang="en-US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等腰三角形 2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44990" y="1721485"/>
            <a:ext cx="224853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横轴 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epoch（1–30），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纵轴 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L1（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对数），圆点为训练、方块为验证。用于说明</a:t>
            </a:r>
            <a:r>
              <a:rPr lang="zh-CN" altLang="en-US" sz="16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去年方案的收敛过程：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在相同数据、相同轮数下它收敛到哪个精度水平，是判断"纯数据驱动 </a:t>
            </a:r>
            <a:r>
              <a:rPr lang="en-US" altLang="zh-CN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vs 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物理引导"差距的直接参照。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 descr="compare_curve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9240" y="1217295"/>
            <a:ext cx="9029700" cy="44577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634917" y="237124"/>
            <a:ext cx="268097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对比维度</a:t>
            </a:r>
            <a:r>
              <a:rPr lang="zh-CN" altLang="en-US" b="1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sym typeface="Calibri" panose="020F0502020204030204" pitchFamily="34" charset="0"/>
              </a:rPr>
              <a:t>小结</a:t>
            </a:r>
            <a:endParaRPr lang="zh-CN" altLang="en-US" b="1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等腰三角形 29"/>
          <p:cNvSpPr>
            <a:spLocks noChangeArrowheads="1"/>
          </p:cNvSpPr>
          <p:nvPr/>
        </p:nvSpPr>
        <p:spPr bwMode="auto">
          <a:xfrm rot="5400000">
            <a:off x="-53049" y="209721"/>
            <a:ext cx="774879" cy="6687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53440" y="1957070"/>
          <a:ext cx="10485120" cy="2583815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362585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1600" b="1" i="0">
                        <a:solidFill>
                          <a:srgbClr val="03030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今年：物理层 </a:t>
                      </a:r>
                      <a:r>
                        <a:rPr lang="en-US" altLang="zh-CN" sz="1600" b="1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600" b="1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残差 </a:t>
                      </a:r>
                      <a:r>
                        <a:rPr lang="en-US" altLang="zh-CN" sz="1600" b="1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U-Net</a:t>
                      </a:r>
                      <a:endParaRPr lang="en-US" altLang="zh-CN" sz="1600" b="1" i="0">
                        <a:solidFill>
                          <a:srgbClr val="03030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去年：</a:t>
                      </a:r>
                      <a:r>
                        <a:rPr lang="en-US" altLang="zh-CN" sz="1600" b="1" i="0">
                          <a:solidFill>
                            <a:srgbClr val="03030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pix2pix (U-Net + GAN)</a:t>
                      </a:r>
                      <a:endParaRPr lang="en-US" altLang="zh-CN" sz="1600" b="1" i="0">
                        <a:solidFill>
                          <a:srgbClr val="03030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1315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是否含物理先验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含有，显式 </a:t>
                      </a:r>
                      <a:r>
                        <a:rPr lang="en-US" altLang="zh-CN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FFT </a:t>
                      </a:r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物理层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无，端到端学习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训练损失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L1 + </a:t>
                      </a:r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频域 </a:t>
                      </a:r>
                      <a:r>
                        <a:rPr lang="en-US" altLang="zh-CN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SSIM + </a:t>
                      </a:r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残差正则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对抗损失 </a:t>
                      </a:r>
                      <a:r>
                        <a:rPr lang="en-US" altLang="zh-CN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+ 100×</a:t>
                      </a:r>
                      <a:r>
                        <a:rPr lang="en-US" altLang="zh-CN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100×L1</a:t>
                      </a:r>
                      <a:endParaRPr lang="en-US" altLang="zh-CN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195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训练起点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纯物理（残差零初始化）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随机初始化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585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可解释性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强（输出</a:t>
                      </a:r>
                      <a:r>
                        <a:rPr lang="en-US" altLang="zh-CN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=</a:t>
                      </a:r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物理</a:t>
                      </a:r>
                      <a:r>
                        <a:rPr lang="en-US" altLang="zh-CN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小修正）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弱（黑箱生成）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1315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参数量</a:t>
                      </a:r>
                      <a:r>
                        <a:rPr lang="en-US" altLang="zh-CN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训练成本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轻（物理层零参数）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重（额外判别器 </a:t>
                      </a:r>
                      <a:r>
                        <a:rPr lang="en-US" altLang="zh-CN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GAN </a:t>
                      </a:r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训练）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585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定量指标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见</a:t>
                      </a:r>
                      <a:r>
                        <a:rPr lang="en-US" altLang="zh-CN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hlinkClick r:id="rId2" tooltip="" action="ppaction://hlinksldjump"/>
                        </a:rPr>
                        <a:t>上上图</a:t>
                      </a:r>
                      <a:r>
                        <a:rPr lang="en-US" altLang="zh-CN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每行标注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5555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同左，同指标同代码计算</a:t>
                      </a:r>
                      <a:endParaRPr lang="zh-CN" altLang="en-US" sz="1600" b="0" i="0">
                        <a:solidFill>
                          <a:srgbClr val="5555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/>
          <p:cNvCxnSpPr/>
          <p:nvPr/>
        </p:nvCxnSpPr>
        <p:spPr>
          <a:xfrm flipH="1">
            <a:off x="3390108" y="4166691"/>
            <a:ext cx="670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1" y="1552169"/>
            <a:ext cx="2387969" cy="3826419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chemeClr val="accent1"/>
          </a:solidFill>
          <a:ln w="5" cap="flat">
            <a:solidFill>
              <a:schemeClr val="accent1"/>
            </a:solidFill>
            <a:prstDash val="solid"/>
            <a:miter lim="800000"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Freeform 6"/>
          <p:cNvSpPr>
            <a:spLocks noEditPoints="1"/>
          </p:cNvSpPr>
          <p:nvPr/>
        </p:nvSpPr>
        <p:spPr bwMode="auto">
          <a:xfrm>
            <a:off x="2296560" y="2937549"/>
            <a:ext cx="182819" cy="2259004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8655" y="1328636"/>
            <a:ext cx="3831859" cy="140081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3278655" y="2888903"/>
            <a:ext cx="7785980" cy="1116965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感谢聆听</a:t>
            </a:r>
            <a:r>
              <a:rPr kumimoji="0" lang="zh-CN" altLang="en-US" sz="6665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！</a:t>
            </a:r>
            <a:endParaRPr kumimoji="0" lang="zh-CN" altLang="en-US" sz="6665" b="1" i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95368" y="6107416"/>
            <a:ext cx="10451803" cy="645160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数据与标签均由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generate_data.py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的物理模型仿真产生，非真实实验采集；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物理层与数据生成必须保持参数一致（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LOG_ALPHA、fftshift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顺序、归一化方式），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train.py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已内置一致性自检；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KSO_WM_DIAGRAM_VIRTUALLY_FRAME" val="{&quot;height&quot;:321.4150393700787,&quot;left&quot;:256.8307874015748,&quot;top&quot;:141.48188976377952,&quot;width&quot;:563.3645669291338}"/>
</p:tagLst>
</file>

<file path=ppt/tags/tag2.xml><?xml version="1.0" encoding="utf-8"?>
<p:tagLst xmlns:p="http://schemas.openxmlformats.org/presentationml/2006/main">
  <p:tag name="KSO_WM_DIAGRAM_VIRTUALLY_FRAME" val="{&quot;height&quot;:321.4150393700787,&quot;left&quot;:256.8307874015748,&quot;top&quot;:141.48188976377952,&quot;width&quot;:563.3645669291338}"/>
</p:tagLst>
</file>

<file path=ppt/tags/tag3.xml><?xml version="1.0" encoding="utf-8"?>
<p:tagLst xmlns:p="http://schemas.openxmlformats.org/presentationml/2006/main">
  <p:tag name="KSO_WM_DIAGRAM_VIRTUALLY_FRAME" val="{&quot;height&quot;:321.4150393700787,&quot;left&quot;:256.8307874015748,&quot;top&quot;:141.48188976377952,&quot;width&quot;:563.3645669291338}"/>
</p:tagLst>
</file>

<file path=ppt/tags/tag4.xml><?xml version="1.0" encoding="utf-8"?>
<p:tagLst xmlns:p="http://schemas.openxmlformats.org/presentationml/2006/main">
  <p:tag name="KSO_WM_DIAGRAM_VIRTUALLY_FRAME" val="{&quot;height&quot;:321.4150393700787,&quot;left&quot;:256.8307874015748,&quot;top&quot;:141.48188976377952,&quot;width&quot;:563.3645669291338}"/>
</p:tagLst>
</file>

<file path=ppt/tags/tag5.xml><?xml version="1.0" encoding="utf-8"?>
<p:tagLst xmlns:p="http://schemas.openxmlformats.org/presentationml/2006/main">
  <p:tag name="KSO_WM_DIAGRAM_VIRTUALLY_FRAME" val="{&quot;height&quot;:321.4150393700787,&quot;left&quot;:256.8307874015748,&quot;top&quot;:141.48188976377952,&quot;width&quot;:563.3645669291338}"/>
</p:tagLst>
</file>

<file path=ppt/tags/tag6.xml><?xml version="1.0" encoding="utf-8"?>
<p:tagLst xmlns:p="http://schemas.openxmlformats.org/presentationml/2006/main">
  <p:tag name="KSO_WM_DIAGRAM_VIRTUALLY_FRAME" val="{&quot;height&quot;:321.4150393700787,&quot;left&quot;:256.8307874015748,&quot;top&quot;:141.48188976377952,&quot;width&quot;:563.3645669291338}"/>
</p:tagLst>
</file>

<file path=ppt/tags/tag7.xml><?xml version="1.0" encoding="utf-8"?>
<p:tagLst xmlns:p="http://schemas.openxmlformats.org/presentationml/2006/main">
  <p:tag name="KSO_WM_DIAGRAM_VIRTUALLY_FRAME" val="{&quot;height&quot;:132.30944881889758,&quot;left&quot;:91.80212598425197,&quot;top&quot;:284.2943307086614,&quot;width&quot;:830.6418169818555}"/>
</p:tagLst>
</file>

<file path=ppt/tags/tag8.xml><?xml version="1.0" encoding="utf-8"?>
<p:tagLst xmlns:p="http://schemas.openxmlformats.org/presentationml/2006/main">
  <p:tag name="KSO_WM_DIAGRAM_VIRTUALLY_FRAME" val="{&quot;height&quot;:132.30944881889758,&quot;left&quot;:91.80212598425197,&quot;top&quot;:284.2943307086614,&quot;width&quot;:830.6418169818555}"/>
</p:tagLst>
</file>

<file path=ppt/tags/tag9.xml><?xml version="1.0" encoding="utf-8"?>
<p:tagLst xmlns:p="http://schemas.openxmlformats.org/presentationml/2006/main">
  <p:tag name="KSO_WM_DIAGRAM_VIRTUALLY_FRAME" val="{&quot;height&quot;:132.30944881889758,&quot;left&quot;:91.80212598425197,&quot;top&quot;:284.2943307086614,&quot;width&quot;:830.6418169818555}"/>
</p:tagLst>
</file>

<file path=ppt/tags/tag10.xml><?xml version="1.0" encoding="utf-8"?>
<p:tagLst xmlns:p="http://schemas.openxmlformats.org/presentationml/2006/main">
  <p:tag name="KSO_WM_DIAGRAM_VIRTUALLY_FRAME" val="{&quot;height&quot;:132.30944881889758,&quot;left&quot;:91.80212598425197,&quot;top&quot;:284.2943307086614,&quot;width&quot;:830.6418169818555}"/>
</p:tagLst>
</file>

<file path=ppt/tags/tag11.xml><?xml version="1.0" encoding="utf-8"?>
<p:tagLst xmlns:p="http://schemas.openxmlformats.org/presentationml/2006/main">
  <p:tag name="KSO_WM_DIAGRAM_VIRTUALLY_FRAME" val="{&quot;height&quot;:132.30944881889758,&quot;left&quot;:91.80212598425197,&quot;top&quot;:284.2943307086614,&quot;width&quot;:830.6418169818555}"/>
</p:tagLst>
</file>

<file path=ppt/tags/tag12.xml><?xml version="1.0" encoding="utf-8"?>
<p:tagLst xmlns:p="http://schemas.openxmlformats.org/presentationml/2006/main">
  <p:tag name="KSO_WM_DIAGRAM_VIRTUALLY_FRAME" val="{&quot;height&quot;:132.30944881889758,&quot;left&quot;:91.80212598425197,&quot;top&quot;:284.2943307086614,&quot;width&quot;:830.6418169818555}"/>
</p:tagLst>
</file>

<file path=ppt/tags/tag13.xml><?xml version="1.0" encoding="utf-8"?>
<p:tagLst xmlns:p="http://schemas.openxmlformats.org/presentationml/2006/main">
  <p:tag name="KSO_WM_DIAGRAM_VIRTUALLY_FRAME" val="{&quot;height&quot;:132.30944881889758,&quot;left&quot;:91.80212598425197,&quot;top&quot;:284.2943307086614,&quot;width&quot;:830.6418169818555}"/>
</p:tagLst>
</file>

<file path=ppt/tags/tag14.xml><?xml version="1.0" encoding="utf-8"?>
<p:tagLst xmlns:p="http://schemas.openxmlformats.org/presentationml/2006/main">
  <p:tag name="KSO_WM_DIAGRAM_VIRTUALLY_FRAME" val="{&quot;height&quot;:375.9701574803149,&quot;left&quot;:207.70031496062992,&quot;top&quot;:113.5684251968504,&quot;width&quot;:655.4649606299213}"/>
</p:tagLst>
</file>

<file path=ppt/tags/tag15.xml><?xml version="1.0" encoding="utf-8"?>
<p:tagLst xmlns:p="http://schemas.openxmlformats.org/presentationml/2006/main">
  <p:tag name="KSO_WM_DIAGRAM_VIRTUALLY_FRAME" val="{&quot;height&quot;:375.9701574803149,&quot;left&quot;:207.70031496062992,&quot;top&quot;:113.5684251968504,&quot;width&quot;:655.4649606299213}"/>
</p:tagLst>
</file>

<file path=ppt/tags/tag16.xml><?xml version="1.0" encoding="utf-8"?>
<p:tagLst xmlns:p="http://schemas.openxmlformats.org/presentationml/2006/main">
  <p:tag name="KSO_WM_DIAGRAM_VIRTUALLY_FRAME" val="{&quot;height&quot;:375.9701574803149,&quot;left&quot;:207.70031496062992,&quot;top&quot;:113.5684251968504,&quot;width&quot;:655.4649606299213}"/>
</p:tagLst>
</file>

<file path=ppt/tags/tag17.xml><?xml version="1.0" encoding="utf-8"?>
<p:tagLst xmlns:p="http://schemas.openxmlformats.org/presentationml/2006/main">
  <p:tag name="KSO_WM_DIAGRAM_VIRTUALLY_FRAME" val="{&quot;height&quot;:375.9701574803149,&quot;left&quot;:207.70031496062992,&quot;top&quot;:113.5684251968504,&quot;width&quot;:655.4649606299213}"/>
</p:tagLst>
</file>

<file path=ppt/tags/tag18.xml><?xml version="1.0" encoding="utf-8"?>
<p:tagLst xmlns:p="http://schemas.openxmlformats.org/presentationml/2006/main">
  <p:tag name="KSO_WM_DIAGRAM_VIRTUALLY_FRAME" val="{&quot;height&quot;:375.9701574803149,&quot;left&quot;:207.70031496062992,&quot;top&quot;:113.5684251968504,&quot;width&quot;:655.4649606299213}"/>
</p:tagLst>
</file>

<file path=ppt/tags/tag19.xml><?xml version="1.0" encoding="utf-8"?>
<p:tagLst xmlns:p="http://schemas.openxmlformats.org/presentationml/2006/main">
  <p:tag name="KSO_WM_DIAGRAM_VIRTUALLY_FRAME" val="{&quot;height&quot;:375.9701574803149,&quot;left&quot;:207.70031496062992,&quot;top&quot;:113.5684251968504,&quot;width&quot;:655.4649606299213}"/>
</p:tagLst>
</file>

<file path=ppt/tags/tag20.xml><?xml version="1.0" encoding="utf-8"?>
<p:tagLst xmlns:p="http://schemas.openxmlformats.org/presentationml/2006/main">
  <p:tag name="KSO_WM_DIAGRAM_VIRTUALLY_FRAME" val="{&quot;height&quot;:375.9701574803149,&quot;left&quot;:207.70031496062992,&quot;top&quot;:113.5684251968504,&quot;width&quot;:655.4649606299213}"/>
</p:tagLst>
</file>

<file path=ppt/tags/tag21.xml><?xml version="1.0" encoding="utf-8"?>
<p:tagLst xmlns:p="http://schemas.openxmlformats.org/presentationml/2006/main">
  <p:tag name="KSO_WM_DIAGRAM_VIRTUALLY_FRAME" val="{&quot;height&quot;:375.9701574803149,&quot;left&quot;:207.70031496062992,&quot;top&quot;:113.5684251968504,&quot;width&quot;:655.4649606299213}"/>
</p:tagLst>
</file>

<file path=ppt/tags/tag22.xml><?xml version="1.0" encoding="utf-8"?>
<p:tagLst xmlns:p="http://schemas.openxmlformats.org/presentationml/2006/main">
  <p:tag name="KSO_WM_DIAGRAM_VIRTUALLY_FRAME" val="{&quot;height&quot;:375.9701574803149,&quot;left&quot;:207.70031496062992,&quot;top&quot;:113.5684251968504,&quot;width&quot;:655.4649606299213}"/>
</p:tagLst>
</file>

<file path=ppt/tags/tag23.xml><?xml version="1.0" encoding="utf-8"?>
<p:tagLst xmlns:p="http://schemas.openxmlformats.org/presentationml/2006/main">
  <p:tag name="KSO_WM_DIAGRAM_VIRTUALLY_FRAME" val="{&quot;height&quot;:375.9701574803149,&quot;left&quot;:207.70031496062992,&quot;top&quot;:113.5684251968504,&quot;width&quot;:655.4649606299213}"/>
</p:tagLst>
</file>

<file path=ppt/tags/tag24.xml><?xml version="1.0" encoding="utf-8"?>
<p:tagLst xmlns:p="http://schemas.openxmlformats.org/presentationml/2006/main">
  <p:tag name="KSO_WM_DIAGRAM_VIRTUALLY_FRAME" val="{&quot;height&quot;:375.9701574803149,&quot;left&quot;:207.70031496062992,&quot;top&quot;:113.5684251968504,&quot;width&quot;:655.4649606299213}"/>
</p:tagLst>
</file>

<file path=ppt/tags/tag25.xml><?xml version="1.0" encoding="utf-8"?>
<p:tagLst xmlns:p="http://schemas.openxmlformats.org/presentationml/2006/main">
  <p:tag name="KSO_WM_DIAGRAM_VIRTUALLY_FRAME" val="{&quot;height&quot;:375.9701574803149,&quot;left&quot;:207.70031496062992,&quot;top&quot;:113.5684251968504,&quot;width&quot;:655.4649606299213}"/>
</p:tagLst>
</file>

<file path=ppt/tags/tag26.xml><?xml version="1.0" encoding="utf-8"?>
<p:tagLst xmlns:p="http://schemas.openxmlformats.org/presentationml/2006/main">
  <p:tag name="KSO_WM_DIAGRAM_VIRTUALLY_FRAME" val="{&quot;height&quot;:388.3984251968504,&quot;left&quot;:102,&quot;top&quot;:145.69881889763778,&quot;width&quot;:761.3098425196852}"/>
</p:tagLst>
</file>

<file path=ppt/tags/tag27.xml><?xml version="1.0" encoding="utf-8"?>
<p:tagLst xmlns:p="http://schemas.openxmlformats.org/presentationml/2006/main">
  <p:tag name="KSO_WM_DIAGRAM_VIRTUALLY_FRAME" val="{&quot;height&quot;:388.3984251968504,&quot;left&quot;:102,&quot;top&quot;:145.69881889763778,&quot;width&quot;:761.3098425196852}"/>
</p:tagLst>
</file>

<file path=ppt/tags/tag28.xml><?xml version="1.0" encoding="utf-8"?>
<p:tagLst xmlns:p="http://schemas.openxmlformats.org/presentationml/2006/main">
  <p:tag name="KSO_WM_DIAGRAM_VIRTUALLY_FRAME" val="{&quot;height&quot;:388.3984251968504,&quot;left&quot;:102,&quot;top&quot;:145.69881889763778,&quot;width&quot;:761.3098425196852}"/>
</p:tagLst>
</file>

<file path=ppt/tags/tag29.xml><?xml version="1.0" encoding="utf-8"?>
<p:tagLst xmlns:p="http://schemas.openxmlformats.org/presentationml/2006/main">
  <p:tag name="KSO_WM_DIAGRAM_VIRTUALLY_FRAME" val="{&quot;height&quot;:388.3984251968504,&quot;left&quot;:102,&quot;top&quot;:145.69881889763778,&quot;width&quot;:761.3098425196852}"/>
</p:tagLst>
</file>

<file path=ppt/tags/tag30.xml><?xml version="1.0" encoding="utf-8"?>
<p:tagLst xmlns:p="http://schemas.openxmlformats.org/presentationml/2006/main">
  <p:tag name="KSO_WM_DIAGRAM_VIRTUALLY_FRAME" val="{&quot;height&quot;:349.5984251968503,&quot;left&quot;:102,&quot;top&quot;:145.69881889763778,&quot;width&quot;:761.3098425196852}"/>
</p:tagLst>
</file>

<file path=ppt/tags/tag31.xml><?xml version="1.0" encoding="utf-8"?>
<p:tagLst xmlns:p="http://schemas.openxmlformats.org/presentationml/2006/main">
  <p:tag name="KSO_WM_DIAGRAM_VIRTUALLY_FRAME" val="{&quot;height&quot;:388.3984251968504,&quot;left&quot;:102,&quot;top&quot;:145.69881889763778,&quot;width&quot;:761.3098425196852}"/>
</p:tagLst>
</file>

<file path=ppt/tags/tag32.xml><?xml version="1.0" encoding="utf-8"?>
<p:tagLst xmlns:p="http://schemas.openxmlformats.org/presentationml/2006/main">
  <p:tag name="KSO_WM_DIAGRAM_VIRTUALLY_FRAME" val="{&quot;height&quot;:388.3984251968504,&quot;left&quot;:102,&quot;top&quot;:145.69881889763778,&quot;width&quot;:761.3098425196852}"/>
</p:tagLst>
</file>

<file path=ppt/tags/tag33.xml><?xml version="1.0" encoding="utf-8"?>
<p:tagLst xmlns:p="http://schemas.openxmlformats.org/presentationml/2006/main">
  <p:tag name="KSO_WM_DIAGRAM_VIRTUALLY_FRAME" val="{&quot;height&quot;:388.3984251968504,&quot;left&quot;:102,&quot;top&quot;:145.69881889763778,&quot;width&quot;:761.3098425196852}"/>
</p:tagLst>
</file>

<file path=ppt/tags/tag34.xml><?xml version="1.0" encoding="utf-8"?>
<p:tagLst xmlns:p="http://schemas.openxmlformats.org/presentationml/2006/main">
  <p:tag name="KSO_WM_DIAGRAM_VIRTUALLY_FRAME" val="{&quot;height&quot;:388.3984251968504,&quot;left&quot;:102,&quot;top&quot;:145.69881889763778,&quot;width&quot;:761.3098425196852}"/>
</p:tagLst>
</file>

<file path=ppt/tags/tag35.xml><?xml version="1.0" encoding="utf-8"?>
<p:tagLst xmlns:p="http://schemas.openxmlformats.org/presentationml/2006/main">
  <p:tag name="KSO_WM_DIAGRAM_VIRTUALLY_FRAME" val="{&quot;height&quot;:388.3984251968504,&quot;left&quot;:102,&quot;top&quot;:145.69881889763778,&quot;width&quot;:761.3098425196852}"/>
</p:tagLst>
</file>

<file path=ppt/tags/tag36.xml><?xml version="1.0" encoding="utf-8"?>
<p:tagLst xmlns:p="http://schemas.openxmlformats.org/presentationml/2006/main">
  <p:tag name="KSO_WM_DIAGRAM_VIRTUALLY_FRAME" val="{&quot;height&quot;:388.3984251968504,&quot;left&quot;:102,&quot;top&quot;:145.69881889763778,&quot;width&quot;:761.3098425196852}"/>
</p:tagLst>
</file>

<file path=ppt/tags/tag37.xml><?xml version="1.0" encoding="utf-8"?>
<p:tagLst xmlns:p="http://schemas.openxmlformats.org/presentationml/2006/main">
  <p:tag name="KSO_WM_DIAGRAM_VIRTUALLY_FRAME" val="{&quot;height&quot;:388.3984251968504,&quot;left&quot;:102,&quot;top&quot;:145.69881889763778,&quot;width&quot;:761.3098425196852}"/>
</p:tagLst>
</file>

<file path=ppt/tags/tag38.xml><?xml version="1.0" encoding="utf-8"?>
<p:tagLst xmlns:p="http://schemas.openxmlformats.org/presentationml/2006/main">
  <p:tag name="KSO_WM_DIAGRAM_VIRTUALLY_FRAME" val="{&quot;height&quot;:388.3984251968504,&quot;left&quot;:102,&quot;top&quot;:145.69881889763778,&quot;width&quot;:761.3098425196852}"/>
</p:tagLst>
</file>

<file path=ppt/tags/tag39.xml><?xml version="1.0" encoding="utf-8"?>
<p:tagLst xmlns:p="http://schemas.openxmlformats.org/presentationml/2006/main">
  <p:tag name="KSO_WM_UNIT_PLACING_PICTURE_USER_VIEWPORT" val="{&quot;height&quot;:2967,&quot;width&quot;:11952}"/>
</p:tagLst>
</file>

<file path=ppt/tags/tag40.xml><?xml version="1.0" encoding="utf-8"?>
<p:tagLst xmlns:p="http://schemas.openxmlformats.org/presentationml/2006/main">
  <p:tag name="KSO_WM_UNIT_PLACING_PICTURE_USER_VIEWPORT" val="{&quot;height&quot;:2968,&quot;width&quot;:11951}"/>
</p:tagLst>
</file>

<file path=ppt/tags/tag41.xml><?xml version="1.0" encoding="utf-8"?>
<p:tagLst xmlns:p="http://schemas.openxmlformats.org/presentationml/2006/main">
  <p:tag name="KSO_WM_UNIT_PLACING_PICTURE_USER_VIEWPORT" val="{&quot;height&quot;:2967,&quot;width&quot;:11951}"/>
</p:tagLst>
</file>

<file path=ppt/tags/tag42.xml><?xml version="1.0" encoding="utf-8"?>
<p:tagLst xmlns:p="http://schemas.openxmlformats.org/presentationml/2006/main">
  <p:tag name="KSO_WM_DIAGRAM_VIRTUALLY_FRAME" val="{&quot;height&quot;:393.77385826771655,&quot;left&quot;:53.36472440944882,&quot;top&quot;:115.12614173228344,&quot;width&quot;:843.765748031496}"/>
</p:tagLst>
</file>

<file path=ppt/tags/tag43.xml><?xml version="1.0" encoding="utf-8"?>
<p:tagLst xmlns:p="http://schemas.openxmlformats.org/presentationml/2006/main">
  <p:tag name="KSO_WM_DIAGRAM_VIRTUALLY_FRAME" val="{&quot;height&quot;:393.77385826771655,&quot;left&quot;:53.36472440944882,&quot;top&quot;:115.12614173228344,&quot;width&quot;:843.765748031496}"/>
</p:tagLst>
</file>

<file path=ppt/tags/tag44.xml><?xml version="1.0" encoding="utf-8"?>
<p:tagLst xmlns:p="http://schemas.openxmlformats.org/presentationml/2006/main">
  <p:tag name="KSO_WM_DIAGRAM_VIRTUALLY_FRAME" val="{&quot;height&quot;:393.77385826771655,&quot;left&quot;:53.36472440944882,&quot;top&quot;:115.12614173228344,&quot;width&quot;:843.765748031496}"/>
</p:tagLst>
</file>

<file path=ppt/tags/tag45.xml><?xml version="1.0" encoding="utf-8"?>
<p:tagLst xmlns:p="http://schemas.openxmlformats.org/presentationml/2006/main">
  <p:tag name="KSO_WM_DIAGRAM_VIRTUALLY_FRAME" val="{&quot;height&quot;:393.77385826771655,&quot;left&quot;:53.36472440944882,&quot;top&quot;:115.12614173228344,&quot;width&quot;:843.765748031496}"/>
</p:tagLst>
</file>

<file path=ppt/tags/tag46.xml><?xml version="1.0" encoding="utf-8"?>
<p:tagLst xmlns:p="http://schemas.openxmlformats.org/presentationml/2006/main">
  <p:tag name="KSO_WM_DIAGRAM_VIRTUALLY_FRAME" val="{&quot;height&quot;:393.77385826771655,&quot;left&quot;:53.36472440944882,&quot;top&quot;:115.12614173228344,&quot;width&quot;:843.765748031496}"/>
</p:tagLst>
</file>

<file path=ppt/tags/tag47.xml><?xml version="1.0" encoding="utf-8"?>
<p:tagLst xmlns:p="http://schemas.openxmlformats.org/presentationml/2006/main">
  <p:tag name="KSO_WM_DIAGRAM_VIRTUALLY_FRAME" val="{&quot;height&quot;:393.77385826771655,&quot;left&quot;:53.36472440944882,&quot;top&quot;:115.12614173228344,&quot;width&quot;:843.765748031496}"/>
</p:tagLst>
</file>

<file path=ppt/tags/tag48.xml><?xml version="1.0" encoding="utf-8"?>
<p:tagLst xmlns:p="http://schemas.openxmlformats.org/presentationml/2006/main">
  <p:tag name="KSO_WM_DIAGRAM_VIRTUALLY_FRAME" val="{&quot;height&quot;:393.77385826771655,&quot;left&quot;:53.36472440944882,&quot;top&quot;:115.12614173228344,&quot;width&quot;:843.765748031496}"/>
</p:tagLst>
</file>

<file path=ppt/tags/tag49.xml><?xml version="1.0" encoding="utf-8"?>
<p:tagLst xmlns:p="http://schemas.openxmlformats.org/presentationml/2006/main">
  <p:tag name="KSO_WM_DIAGRAM_VIRTUALLY_FRAME" val="{&quot;height&quot;:393.77385826771655,&quot;left&quot;:53.36472440944882,&quot;top&quot;:115.12614173228344,&quot;width&quot;:843.765748031496}"/>
</p:tagLst>
</file>

<file path=ppt/tags/tag50.xml><?xml version="1.0" encoding="utf-8"?>
<p:tagLst xmlns:p="http://schemas.openxmlformats.org/presentationml/2006/main">
  <p:tag name="KSO_WM_DIAGRAM_VIRTUALLY_FRAME" val="{&quot;height&quot;:393.77385826771655,&quot;left&quot;:53.36472440944882,&quot;top&quot;:115.12614173228344,&quot;width&quot;:843.765748031496}"/>
</p:tagLst>
</file>

<file path=ppt/tags/tag51.xml><?xml version="1.0" encoding="utf-8"?>
<p:tagLst xmlns:p="http://schemas.openxmlformats.org/presentationml/2006/main">
  <p:tag name="KSO_WM_DIAGRAM_VIRTUALLY_FRAME" val="{&quot;height&quot;:393.77385826771655,&quot;left&quot;:53.36472440944882,&quot;top&quot;:115.12614173228344,&quot;width&quot;:843.765748031496}"/>
</p:tagLst>
</file>

<file path=ppt/tags/tag52.xml><?xml version="1.0" encoding="utf-8"?>
<p:tagLst xmlns:p="http://schemas.openxmlformats.org/presentationml/2006/main">
  <p:tag name="TABLE_ENDDRAG_ORIGIN_RECT" val="387*227"/>
  <p:tag name="TABLE_ENDDRAG_RECT" val="551*203*387*227"/>
</p:tagLst>
</file>

<file path=ppt/tags/tag53.xml><?xml version="1.0" encoding="utf-8"?>
<p:tagLst xmlns:p="http://schemas.openxmlformats.org/presentationml/2006/main">
  <p:tag name="TABLE_ENDDRAG_ORIGIN_RECT" val="825*203"/>
  <p:tag name="TABLE_ENDDRAG_RECT" val="42*101*825*203"/>
</p:tagLst>
</file>

<file path=ppt/theme/theme1.xml><?xml version="1.0" encoding="utf-8"?>
<a:theme xmlns:a="http://schemas.openxmlformats.org/drawingml/2006/main" name="第一PPT，www.1ppt.com">
  <a:themeElements>
    <a:clrScheme name="自定义 2">
      <a:dk1>
        <a:srgbClr val="000000"/>
      </a:dk1>
      <a:lt1>
        <a:srgbClr val="FFFFFF"/>
      </a:lt1>
      <a:dk2>
        <a:srgbClr val="3F3F3F"/>
      </a:dk2>
      <a:lt2>
        <a:srgbClr val="E3DED1"/>
      </a:lt2>
      <a:accent1>
        <a:srgbClr val="0B4189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3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4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5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6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7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8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9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0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2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3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4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5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6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7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8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19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0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2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3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4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5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6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7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8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29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30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3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32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33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ppt/theme/themeOverride34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3F3F3F"/>
    </a:dk2>
    <a:lt2>
      <a:srgbClr val="E3DED1"/>
    </a:lt2>
    <a:accent1>
      <a:srgbClr val="0B4189"/>
    </a:accent1>
    <a:accent2>
      <a:srgbClr val="7F7F7F"/>
    </a:accent2>
    <a:accent3>
      <a:srgbClr val="414456"/>
    </a:accent3>
    <a:accent4>
      <a:srgbClr val="444455"/>
    </a:accent4>
    <a:accent5>
      <a:srgbClr val="444455"/>
    </a:accent5>
    <a:accent6>
      <a:srgbClr val="7F7F7F"/>
    </a:accent6>
    <a:hlink>
      <a:srgbClr val="002060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5935</Words>
  <Application>WPS 演示</Application>
  <PresentationFormat>宽屏</PresentationFormat>
  <Paragraphs>403</Paragraphs>
  <Slides>36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60" baseType="lpstr">
      <vt:lpstr>Arial</vt:lpstr>
      <vt:lpstr>宋体</vt:lpstr>
      <vt:lpstr>Wingdings</vt:lpstr>
      <vt:lpstr>微软雅黑</vt:lpstr>
      <vt:lpstr>Arial Black</vt:lpstr>
      <vt:lpstr>Wingdings 2</vt:lpstr>
      <vt:lpstr>幼圆</vt:lpstr>
      <vt:lpstr>华文行楷</vt:lpstr>
      <vt:lpstr>Calibri</vt:lpstr>
      <vt:lpstr>Arial</vt:lpstr>
      <vt:lpstr>Calibri</vt:lpstr>
      <vt:lpstr>Arial Unicode MS</vt:lpstr>
      <vt:lpstr>等线</vt:lpstr>
      <vt:lpstr>Menlo</vt:lpstr>
      <vt:lpstr>Helvetica Neue</vt:lpstr>
      <vt:lpstr>Arial Narrow</vt:lpstr>
      <vt:lpstr>Segoe Print</vt:lpstr>
      <vt:lpstr>Helvetica Neue</vt:lpstr>
      <vt:lpstr>Menlo</vt:lpstr>
      <vt:lpstr>Helvetica LT Pro</vt:lpstr>
      <vt:lpstr>MS PGothic</vt:lpstr>
      <vt:lpstr>katex_main</vt:lpstr>
      <vt:lpstr>KaTeX_Math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周佳妍</cp:lastModifiedBy>
  <cp:revision>20</cp:revision>
  <dcterms:created xsi:type="dcterms:W3CDTF">2020-10-03T12:01:00Z</dcterms:created>
  <dcterms:modified xsi:type="dcterms:W3CDTF">2026-10-08T06:10:18Z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001C4874432D45DD85FF01DE4EC26DFD_13</vt:lpwstr>
  </property>
</Properties>
</file>